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00d808629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700d80862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28ab6c21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28ab6c21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1200"/>
              </a:spcAft>
              <a:buClr>
                <a:schemeClr val="dk1"/>
              </a:buClr>
              <a:buSzPts val="1100"/>
              <a:buFont typeface="Arial"/>
              <a:buNone/>
            </a:pPr>
            <a:r>
              <a:rPr lang="en" sz="1600">
                <a:solidFill>
                  <a:schemeClr val="dk1"/>
                </a:solidFill>
                <a:latin typeface="Calibri"/>
                <a:ea typeface="Calibri"/>
                <a:cs typeface="Calibri"/>
                <a:sym typeface="Calibri"/>
              </a:rPr>
              <a:t>A carry trade therefore </a:t>
            </a:r>
            <a:r>
              <a:rPr b="1" lang="en" sz="1600">
                <a:solidFill>
                  <a:schemeClr val="dk1"/>
                </a:solidFill>
                <a:latin typeface="Calibri"/>
                <a:ea typeface="Calibri"/>
                <a:cs typeface="Calibri"/>
                <a:sym typeface="Calibri"/>
              </a:rPr>
              <a:t>relies on the funding currency not appreciating, or the investment currency not depreciating, as much as the forward rate implies.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063ee3f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063ee3f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700d80862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700d80862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063ee3f8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063ee3f8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00d80862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00d80862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00d80862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700d80862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595959"/>
                </a:solidFill>
              </a:rPr>
              <a:t>Sovereign Risk:</a:t>
            </a:r>
            <a:r>
              <a:rPr lang="en" sz="1800">
                <a:solidFill>
                  <a:srgbClr val="595959"/>
                </a:solidFill>
              </a:rPr>
              <a:t> While this is a key concern for carry trades in EM bonds, it is much more subdued since both countries are in the OECD. Concerns about long-term US sovereign risk are more likely to affect the tail end of the yield curve</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b="1" lang="en" sz="1800">
                <a:solidFill>
                  <a:srgbClr val="595959"/>
                </a:solidFill>
              </a:rPr>
              <a:t>Liquidity Risk:</a:t>
            </a:r>
            <a:r>
              <a:rPr lang="en" sz="1800">
                <a:solidFill>
                  <a:srgbClr val="595959"/>
                </a:solidFill>
              </a:rPr>
              <a:t> 1Y treasuries are highly liquid, which means that we can exit our position easily. However, we might have to do so at a discount in the event of a rate hike or mass sell-off of USD-denominated assets.</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b="1" lang="en" sz="1800">
                <a:solidFill>
                  <a:srgbClr val="595959"/>
                </a:solidFill>
              </a:rPr>
              <a:t>Exchange Rate Risk:</a:t>
            </a:r>
            <a:endParaRPr b="1" sz="1800">
              <a:solidFill>
                <a:srgbClr val="595959"/>
              </a:solidFill>
            </a:endParaRPr>
          </a:p>
          <a:p>
            <a:pPr indent="457200" lvl="0" marL="0" rtl="0" algn="l">
              <a:lnSpc>
                <a:spcPct val="115000"/>
              </a:lnSpc>
              <a:spcBef>
                <a:spcPts val="1200"/>
              </a:spcBef>
              <a:spcAft>
                <a:spcPts val="0"/>
              </a:spcAft>
              <a:buClr>
                <a:schemeClr val="dk1"/>
              </a:buClr>
              <a:buSzPts val="1100"/>
              <a:buFont typeface="Arial"/>
              <a:buNone/>
            </a:pPr>
            <a:r>
              <a:rPr b="1" lang="en" sz="1800">
                <a:solidFill>
                  <a:srgbClr val="595959"/>
                </a:solidFill>
              </a:rPr>
              <a:t>Swiss Rate Hikes:</a:t>
            </a:r>
            <a:r>
              <a:rPr lang="en" sz="1800">
                <a:solidFill>
                  <a:srgbClr val="595959"/>
                </a:solidFill>
              </a:rPr>
              <a:t> This is a relatively low risk, since the SNB is facing slowing growth, weakened exports due to tariffs, and inflation below the target rate of 0%. While the SNB hasn’t signalled dovish intentions or quantitative easing, analysts believe the door remains open. At the very least, hikes seem to be a tail-end event.</a:t>
            </a:r>
            <a:endParaRPr sz="1800">
              <a:solidFill>
                <a:srgbClr val="595959"/>
              </a:solidFill>
            </a:endParaRPr>
          </a:p>
          <a:p>
            <a:pPr indent="457200" lvl="0" marL="0" rtl="0" algn="l">
              <a:lnSpc>
                <a:spcPct val="115000"/>
              </a:lnSpc>
              <a:spcBef>
                <a:spcPts val="1200"/>
              </a:spcBef>
              <a:spcAft>
                <a:spcPts val="0"/>
              </a:spcAft>
              <a:buClr>
                <a:schemeClr val="dk1"/>
              </a:buClr>
              <a:buSzPts val="1100"/>
              <a:buFont typeface="Arial"/>
              <a:buNone/>
            </a:pPr>
            <a:r>
              <a:rPr b="1" lang="en" sz="1800">
                <a:solidFill>
                  <a:srgbClr val="595959"/>
                </a:solidFill>
              </a:rPr>
              <a:t>Flight-to-Safety Mechanisms:</a:t>
            </a:r>
            <a:r>
              <a:rPr lang="en" sz="1800">
                <a:solidFill>
                  <a:srgbClr val="595959"/>
                </a:solidFill>
              </a:rPr>
              <a:t> During times of global instability, the Swiss Franc is viewed as a safety asset, with investors holding the CHF to hedge the market.</a:t>
            </a:r>
            <a:endParaRPr sz="1800">
              <a:solidFill>
                <a:srgbClr val="595959"/>
              </a:solidFill>
            </a:endParaRPr>
          </a:p>
          <a:p>
            <a:pPr indent="457200" lvl="0" marL="0" rtl="0" algn="l">
              <a:lnSpc>
                <a:spcPct val="115000"/>
              </a:lnSpc>
              <a:spcBef>
                <a:spcPts val="1200"/>
              </a:spcBef>
              <a:spcAft>
                <a:spcPts val="0"/>
              </a:spcAft>
              <a:buClr>
                <a:schemeClr val="dk1"/>
              </a:buClr>
              <a:buSzPts val="1100"/>
              <a:buFont typeface="Arial"/>
              <a:buNone/>
            </a:pPr>
            <a:r>
              <a:rPr lang="en" sz="1800">
                <a:solidFill>
                  <a:srgbClr val="595959"/>
                </a:solidFill>
              </a:rPr>
              <a:t>	In 2008, the CHF appreciated 11% against the USD on the onset of the Global Financial Crisis</a:t>
            </a:r>
            <a:endParaRPr sz="1800">
              <a:solidFill>
                <a:srgbClr val="595959"/>
              </a:solidFill>
            </a:endParaRPr>
          </a:p>
          <a:p>
            <a:pPr indent="0" lvl="0" marL="914400" rtl="0" algn="l">
              <a:lnSpc>
                <a:spcPct val="115000"/>
              </a:lnSpc>
              <a:spcBef>
                <a:spcPts val="1200"/>
              </a:spcBef>
              <a:spcAft>
                <a:spcPts val="0"/>
              </a:spcAft>
              <a:buClr>
                <a:schemeClr val="dk1"/>
              </a:buClr>
              <a:buSzPts val="1100"/>
              <a:buFont typeface="Arial"/>
              <a:buNone/>
            </a:pPr>
            <a:r>
              <a:rPr lang="en" sz="1800">
                <a:solidFill>
                  <a:srgbClr val="595959"/>
                </a:solidFill>
              </a:rPr>
              <a:t>In April 2025, the CHF appreciated 7-8% following Trump’s unprecedented shock to the market after announcing tariffs, which gives us an upper bound for exchange rate volatility in the foreseeable future. </a:t>
            </a:r>
            <a:endParaRPr sz="1800">
              <a:solidFill>
                <a:srgbClr val="595959"/>
              </a:solidFill>
            </a:endParaRPr>
          </a:p>
          <a:p>
            <a:pPr indent="0" lvl="0" marL="914400" rtl="0" algn="l">
              <a:lnSpc>
                <a:spcPct val="115000"/>
              </a:lnSpc>
              <a:spcBef>
                <a:spcPts val="1200"/>
              </a:spcBef>
              <a:spcAft>
                <a:spcPts val="0"/>
              </a:spcAft>
              <a:buClr>
                <a:schemeClr val="dk1"/>
              </a:buClr>
              <a:buSzPts val="1100"/>
              <a:buFont typeface="Arial"/>
              <a:buNone/>
            </a:pPr>
            <a:r>
              <a:rPr lang="en" sz="1800">
                <a:solidFill>
                  <a:srgbClr val="595959"/>
                </a:solidFill>
              </a:rPr>
              <a:t>It must be noted that despite further volatility, the rate has remained steady which is a positive sign</a:t>
            </a:r>
            <a:endParaRPr sz="1800">
              <a:solidFill>
                <a:srgbClr val="595959"/>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063ee3f8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063ee3f8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*Weak assumption, since Swiss rates are negative</a:t>
            </a:r>
            <a:endParaRPr/>
          </a:p>
          <a:p>
            <a:pPr indent="0" lvl="0" marL="0" rtl="0" algn="l">
              <a:spcBef>
                <a:spcPts val="0"/>
              </a:spcBef>
              <a:spcAft>
                <a:spcPts val="0"/>
              </a:spcAft>
              <a:buNone/>
            </a:pPr>
            <a:r>
              <a:rPr lang="en"/>
              <a:t>** ((0.81/0.80)*(0.0355 * 10000000) - 2 * 0.0005 * 10000000 + (0.81/0.80)*10000000-10000000)</a:t>
            </a:r>
            <a:endParaRPr/>
          </a:p>
          <a:p>
            <a:pPr indent="0" lvl="0" marL="0" rtl="0" algn="l">
              <a:spcBef>
                <a:spcPts val="0"/>
              </a:spcBef>
              <a:spcAft>
                <a:spcPts val="0"/>
              </a:spcAft>
              <a:buNone/>
            </a:pPr>
            <a:r>
              <a:rPr lang="en"/>
              <a:t>*** Using an estimate one standard deviation below the mean</a:t>
            </a:r>
            <a:endParaRPr/>
          </a:p>
          <a:p>
            <a:pPr indent="0" lvl="0" marL="0" rtl="0" algn="l">
              <a:spcBef>
                <a:spcPts val="0"/>
              </a:spcBef>
              <a:spcAft>
                <a:spcPts val="0"/>
              </a:spcAft>
              <a:buNone/>
            </a:pPr>
            <a:r>
              <a:rPr lang="en"/>
              <a:t>****((0.78/0.80)*(0.0355*10000000) - 2 * 0.0005*10000000 + (0.78/0.80)*10000000-10000000) </a:t>
            </a:r>
            <a:endParaRPr/>
          </a:p>
          <a:p>
            <a:pPr indent="0" lvl="0" marL="0" rtl="0" algn="l">
              <a:spcBef>
                <a:spcPts val="0"/>
              </a:spcBef>
              <a:spcAft>
                <a:spcPts val="0"/>
              </a:spcAft>
              <a:buNone/>
            </a:pPr>
            <a:r>
              <a:rPr lang="en"/>
              <a:t>*****(1.097 - 0.0361)/0.0011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0bbf3314e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0bbf3314e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063ee3f8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063ee3f8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28ab6c216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a28ab6c216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i="1" lang="en">
                <a:latin typeface="Calibri"/>
                <a:ea typeface="Calibri"/>
                <a:cs typeface="Calibri"/>
                <a:sym typeface="Calibri"/>
              </a:rPr>
              <a:t>Unhedged Carry Trade: </a:t>
            </a:r>
            <a:endParaRPr i="1">
              <a:latin typeface="Calibri"/>
              <a:ea typeface="Calibri"/>
              <a:cs typeface="Calibri"/>
              <a:sym typeface="Calibri"/>
            </a:endParaRPr>
          </a:p>
          <a:p>
            <a:pPr indent="0" lvl="0" marL="0" rtl="0" algn="ctr">
              <a:spcBef>
                <a:spcPts val="0"/>
              </a:spcBef>
              <a:spcAft>
                <a:spcPts val="0"/>
              </a:spcAft>
              <a:buNone/>
            </a:pPr>
            <a:r>
              <a:rPr b="1" i="1" lang="en" sz="4756">
                <a:latin typeface="Calibri"/>
                <a:ea typeface="Calibri"/>
                <a:cs typeface="Calibri"/>
                <a:sym typeface="Calibri"/>
              </a:rPr>
              <a:t>USD/CHF</a:t>
            </a:r>
            <a:endParaRPr b="1" i="1" sz="4756">
              <a:latin typeface="Calibri"/>
              <a:ea typeface="Calibri"/>
              <a:cs typeface="Calibri"/>
              <a:sym typeface="Calibri"/>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i="1" lang="en">
                <a:solidFill>
                  <a:schemeClr val="dk1"/>
                </a:solidFill>
                <a:latin typeface="Calibri"/>
                <a:ea typeface="Calibri"/>
                <a:cs typeface="Calibri"/>
                <a:sym typeface="Calibri"/>
              </a:rPr>
              <a:t>Saami Ali &amp; Max Levy</a:t>
            </a:r>
            <a:endParaRPr i="1">
              <a:solidFill>
                <a:schemeClr val="dk1"/>
              </a:solidFill>
              <a:latin typeface="Calibri"/>
              <a:ea typeface="Calibri"/>
              <a:cs typeface="Calibri"/>
              <a:sym typeface="Calibri"/>
            </a:endParaRPr>
          </a:p>
        </p:txBody>
      </p:sp>
      <p:cxnSp>
        <p:nvCxnSpPr>
          <p:cNvPr id="56" name="Google Shape;56;p13"/>
          <p:cNvCxnSpPr/>
          <p:nvPr/>
        </p:nvCxnSpPr>
        <p:spPr>
          <a:xfrm>
            <a:off x="-21525" y="757971"/>
            <a:ext cx="9208500" cy="0"/>
          </a:xfrm>
          <a:prstGeom prst="straightConnector1">
            <a:avLst/>
          </a:prstGeom>
          <a:noFill/>
          <a:ln cap="flat" cmpd="sng" w="9525">
            <a:solidFill>
              <a:schemeClr val="dk2"/>
            </a:solidFill>
            <a:prstDash val="solid"/>
            <a:round/>
            <a:headEnd len="med" w="med" type="none"/>
            <a:tailEnd len="med" w="med" type="none"/>
          </a:ln>
        </p:spPr>
      </p:cxnSp>
      <p:pic>
        <p:nvPicPr>
          <p:cNvPr id="57" name="Google Shape;57;p13"/>
          <p:cNvPicPr preferRelativeResize="0"/>
          <p:nvPr/>
        </p:nvPicPr>
        <p:blipFill>
          <a:blip r:embed="rId3">
            <a:alphaModFix/>
          </a:blip>
          <a:stretch>
            <a:fillRect/>
          </a:stretch>
        </p:blipFill>
        <p:spPr>
          <a:xfrm>
            <a:off x="7494288" y="3857394"/>
            <a:ext cx="1576456" cy="1581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p:nvPr/>
        </p:nvSpPr>
        <p:spPr>
          <a:xfrm>
            <a:off x="4755827" y="2646383"/>
            <a:ext cx="3815170" cy="2120468"/>
          </a:xfrm>
          <a:prstGeom prst="rect">
            <a:avLst/>
          </a:prstGeom>
          <a:solidFill>
            <a:srgbClr val="9FC5E8"/>
          </a:solidFill>
          <a:ln cap="flat" cmpd="sng" w="7175">
            <a:solidFill>
              <a:schemeClr val="dk2"/>
            </a:solidFill>
            <a:prstDash val="solid"/>
            <a:round/>
            <a:headEnd len="sm" w="sm" type="none"/>
            <a:tailEnd len="sm" w="sm" type="none"/>
          </a:ln>
        </p:spPr>
        <p:txBody>
          <a:bodyPr anchorCtr="0" anchor="ctr" bIns="68825" lIns="68825" spcFirstLastPara="1" rIns="68825" wrap="square" tIns="68825">
            <a:noAutofit/>
          </a:bodyPr>
          <a:lstStyle/>
          <a:p>
            <a:pPr indent="0" lvl="0" marL="0" rtl="0" algn="ctr">
              <a:spcBef>
                <a:spcPts val="0"/>
              </a:spcBef>
              <a:spcAft>
                <a:spcPts val="0"/>
              </a:spcAft>
              <a:buNone/>
            </a:pPr>
            <a:r>
              <a:t/>
            </a:r>
            <a:endParaRPr sz="1054"/>
          </a:p>
        </p:txBody>
      </p:sp>
      <p:sp>
        <p:nvSpPr>
          <p:cNvPr id="63" name="Google Shape;63;p14"/>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Market Overview: USD/CHF</a:t>
            </a:r>
            <a:endParaRPr i="1" sz="4000">
              <a:latin typeface="Calibri"/>
              <a:ea typeface="Calibri"/>
              <a:cs typeface="Calibri"/>
              <a:sym typeface="Calibri"/>
            </a:endParaRPr>
          </a:p>
        </p:txBody>
      </p:sp>
      <p:cxnSp>
        <p:nvCxnSpPr>
          <p:cNvPr id="64" name="Google Shape;64;p14"/>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sp>
        <p:nvSpPr>
          <p:cNvPr id="65" name="Google Shape;65;p14"/>
          <p:cNvSpPr/>
          <p:nvPr/>
        </p:nvSpPr>
        <p:spPr>
          <a:xfrm>
            <a:off x="569100" y="1040300"/>
            <a:ext cx="8001900" cy="131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FX Market Size:</a:t>
            </a:r>
            <a:r>
              <a:rPr lang="en" sz="1200">
                <a:solidFill>
                  <a:schemeClr val="dk1"/>
                </a:solidFill>
                <a:latin typeface="Calibri"/>
                <a:ea typeface="Calibri"/>
                <a:cs typeface="Calibri"/>
                <a:sym typeface="Calibri"/>
              </a:rPr>
              <a:t> Daily FX turnover exceeds $7T; USD/CHF accounts for ~3% of that, </a:t>
            </a:r>
            <a:r>
              <a:rPr b="1" lang="en" sz="1200">
                <a:solidFill>
                  <a:schemeClr val="dk1"/>
                </a:solidFill>
                <a:latin typeface="Calibri"/>
                <a:ea typeface="Calibri"/>
                <a:cs typeface="Calibri"/>
                <a:sym typeface="Calibri"/>
              </a:rPr>
              <a:t>confirming liquidity</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en" sz="1200">
                <a:solidFill>
                  <a:schemeClr val="dk1"/>
                </a:solidFill>
                <a:latin typeface="Calibri"/>
                <a:ea typeface="Calibri"/>
                <a:cs typeface="Calibri"/>
                <a:sym typeface="Calibri"/>
              </a:rPr>
              <a:t>Historical Volatility:</a:t>
            </a:r>
            <a:r>
              <a:rPr lang="en" sz="1200">
                <a:solidFill>
                  <a:schemeClr val="dk1"/>
                </a:solidFill>
                <a:latin typeface="Calibri"/>
                <a:ea typeface="Calibri"/>
                <a:cs typeface="Calibri"/>
                <a:sym typeface="Calibri"/>
              </a:rPr>
              <a:t> Prior to Trump’s election in November 2024, the USD/CHF exchange rate had a 30-day volatility of 0.11% from February 2010 to September 2024, showing that USD/CHF volatility is historically lower than the volatility of the US Dollar Index (8.26%), making it an ideal “low-risk carry trade.”</a:t>
            </a:r>
            <a:endParaRPr/>
          </a:p>
        </p:txBody>
      </p:sp>
      <p:grpSp>
        <p:nvGrpSpPr>
          <p:cNvPr id="66" name="Google Shape;66;p14"/>
          <p:cNvGrpSpPr/>
          <p:nvPr/>
        </p:nvGrpSpPr>
        <p:grpSpPr>
          <a:xfrm>
            <a:off x="569102" y="2646383"/>
            <a:ext cx="3815170" cy="2120468"/>
            <a:chOff x="-224725" y="964175"/>
            <a:chExt cx="5067300" cy="2816400"/>
          </a:xfrm>
        </p:grpSpPr>
        <p:sp>
          <p:nvSpPr>
            <p:cNvPr id="67" name="Google Shape;67;p14"/>
            <p:cNvSpPr/>
            <p:nvPr/>
          </p:nvSpPr>
          <p:spPr>
            <a:xfrm>
              <a:off x="-224725" y="964175"/>
              <a:ext cx="5067300" cy="2816400"/>
            </a:xfrm>
            <a:prstGeom prst="rect">
              <a:avLst/>
            </a:prstGeom>
            <a:solidFill>
              <a:srgbClr val="9FC5E8"/>
            </a:solidFill>
            <a:ln cap="flat" cmpd="sng" w="7175">
              <a:solidFill>
                <a:schemeClr val="dk2"/>
              </a:solidFill>
              <a:prstDash val="solid"/>
              <a:round/>
              <a:headEnd len="sm" w="sm" type="none"/>
              <a:tailEnd len="sm" w="sm" type="none"/>
            </a:ln>
          </p:spPr>
          <p:txBody>
            <a:bodyPr anchorCtr="0" anchor="ctr" bIns="68825" lIns="68825" spcFirstLastPara="1" rIns="68825" wrap="square" tIns="68825">
              <a:noAutofit/>
            </a:bodyPr>
            <a:lstStyle/>
            <a:p>
              <a:pPr indent="0" lvl="0" marL="0" rtl="0" algn="ctr">
                <a:spcBef>
                  <a:spcPts val="0"/>
                </a:spcBef>
                <a:spcAft>
                  <a:spcPts val="0"/>
                </a:spcAft>
                <a:buNone/>
              </a:pPr>
              <a:r>
                <a:t/>
              </a:r>
              <a:endParaRPr sz="1054"/>
            </a:p>
          </p:txBody>
        </p:sp>
        <p:pic>
          <p:nvPicPr>
            <p:cNvPr id="68" name="Google Shape;68;p14"/>
            <p:cNvPicPr preferRelativeResize="0"/>
            <p:nvPr/>
          </p:nvPicPr>
          <p:blipFill>
            <a:blip r:embed="rId3">
              <a:alphaModFix/>
            </a:blip>
            <a:stretch>
              <a:fillRect/>
            </a:stretch>
          </p:blipFill>
          <p:spPr>
            <a:xfrm>
              <a:off x="185726" y="1213949"/>
              <a:ext cx="4310174" cy="2234911"/>
            </a:xfrm>
            <a:prstGeom prst="rect">
              <a:avLst/>
            </a:prstGeom>
            <a:noFill/>
            <a:ln>
              <a:noFill/>
            </a:ln>
          </p:spPr>
        </p:pic>
      </p:grpSp>
      <p:pic>
        <p:nvPicPr>
          <p:cNvPr id="69" name="Google Shape;69;p14"/>
          <p:cNvPicPr preferRelativeResize="0"/>
          <p:nvPr/>
        </p:nvPicPr>
        <p:blipFill>
          <a:blip r:embed="rId4">
            <a:alphaModFix/>
          </a:blip>
          <a:stretch>
            <a:fillRect/>
          </a:stretch>
        </p:blipFill>
        <p:spPr>
          <a:xfrm>
            <a:off x="5006252" y="2828150"/>
            <a:ext cx="3382450" cy="1756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Product </a:t>
            </a:r>
            <a:r>
              <a:rPr i="1" lang="en" sz="4000">
                <a:latin typeface="Calibri"/>
                <a:ea typeface="Calibri"/>
                <a:cs typeface="Calibri"/>
                <a:sym typeface="Calibri"/>
              </a:rPr>
              <a:t>Overview: Carry Trade</a:t>
            </a:r>
            <a:endParaRPr i="1" sz="4000">
              <a:latin typeface="Calibri"/>
              <a:ea typeface="Calibri"/>
              <a:cs typeface="Calibri"/>
              <a:sym typeface="Calibri"/>
            </a:endParaRPr>
          </a:p>
        </p:txBody>
      </p:sp>
      <p:cxnSp>
        <p:nvCxnSpPr>
          <p:cNvPr id="75" name="Google Shape;75;p15"/>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sp>
        <p:nvSpPr>
          <p:cNvPr id="76" name="Google Shape;76;p15"/>
          <p:cNvSpPr/>
          <p:nvPr/>
        </p:nvSpPr>
        <p:spPr>
          <a:xfrm>
            <a:off x="249063" y="991038"/>
            <a:ext cx="8520600" cy="966300"/>
          </a:xfrm>
          <a:prstGeom prst="roundRect">
            <a:avLst>
              <a:gd fmla="val 16667" name="adj"/>
            </a:avLst>
          </a:prstGeom>
          <a:noFill/>
          <a:ln cap="flat" cmpd="sng" w="7620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Clr>
                <a:schemeClr val="dk1"/>
              </a:buClr>
              <a:buSzPts val="1100"/>
              <a:buFont typeface="Arial"/>
              <a:buNone/>
            </a:pPr>
            <a:r>
              <a:rPr lang="en" sz="1600">
                <a:solidFill>
                  <a:schemeClr val="dk1"/>
                </a:solidFill>
                <a:latin typeface="Calibri"/>
                <a:ea typeface="Calibri"/>
                <a:cs typeface="Calibri"/>
                <a:sym typeface="Calibri"/>
              </a:rPr>
              <a:t>A </a:t>
            </a:r>
            <a:r>
              <a:rPr b="1" lang="en" sz="1600">
                <a:solidFill>
                  <a:schemeClr val="dk1"/>
                </a:solidFill>
                <a:latin typeface="Calibri"/>
                <a:ea typeface="Calibri"/>
                <a:cs typeface="Calibri"/>
                <a:sym typeface="Calibri"/>
              </a:rPr>
              <a:t>carry trade</a:t>
            </a:r>
            <a:r>
              <a:rPr lang="en" sz="1600">
                <a:solidFill>
                  <a:schemeClr val="dk1"/>
                </a:solidFill>
                <a:latin typeface="Calibri"/>
                <a:ea typeface="Calibri"/>
                <a:cs typeface="Calibri"/>
                <a:sym typeface="Calibri"/>
              </a:rPr>
              <a:t> involves borrowing in a currency with a </a:t>
            </a:r>
            <a:r>
              <a:rPr b="1" lang="en" sz="1600">
                <a:solidFill>
                  <a:schemeClr val="dk1"/>
                </a:solidFill>
                <a:latin typeface="Calibri"/>
                <a:ea typeface="Calibri"/>
                <a:cs typeface="Calibri"/>
                <a:sym typeface="Calibri"/>
              </a:rPr>
              <a:t>low interest rate</a:t>
            </a:r>
            <a:r>
              <a:rPr lang="en" sz="1600">
                <a:solidFill>
                  <a:schemeClr val="dk1"/>
                </a:solidFill>
                <a:latin typeface="Calibri"/>
                <a:ea typeface="Calibri"/>
                <a:cs typeface="Calibri"/>
                <a:sym typeface="Calibri"/>
              </a:rPr>
              <a:t> and investing in an asset denominated in a </a:t>
            </a:r>
            <a:r>
              <a:rPr b="1" lang="en" sz="1600">
                <a:solidFill>
                  <a:schemeClr val="dk1"/>
                </a:solidFill>
                <a:latin typeface="Calibri"/>
                <a:ea typeface="Calibri"/>
                <a:cs typeface="Calibri"/>
                <a:sym typeface="Calibri"/>
              </a:rPr>
              <a:t>higher-yielding currency</a:t>
            </a:r>
            <a:r>
              <a:rPr lang="en" sz="1600">
                <a:solidFill>
                  <a:schemeClr val="dk1"/>
                </a:solidFill>
                <a:latin typeface="Calibri"/>
                <a:ea typeface="Calibri"/>
                <a:cs typeface="Calibri"/>
                <a:sym typeface="Calibri"/>
              </a:rPr>
              <a:t> to capture the rate differential.</a:t>
            </a:r>
            <a:endParaRPr sz="1350">
              <a:solidFill>
                <a:schemeClr val="dk1"/>
              </a:solidFill>
              <a:highlight>
                <a:srgbClr val="FFFFFF"/>
              </a:highlight>
            </a:endParaRPr>
          </a:p>
        </p:txBody>
      </p:sp>
      <p:sp>
        <p:nvSpPr>
          <p:cNvPr id="77" name="Google Shape;77;p15"/>
          <p:cNvSpPr/>
          <p:nvPr/>
        </p:nvSpPr>
        <p:spPr>
          <a:xfrm>
            <a:off x="249063" y="2197443"/>
            <a:ext cx="8520600" cy="966300"/>
          </a:xfrm>
          <a:prstGeom prst="roundRect">
            <a:avLst>
              <a:gd fmla="val 16667" name="adj"/>
            </a:avLst>
          </a:prstGeom>
          <a:noFill/>
          <a:ln cap="flat" cmpd="sng" w="7620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Clr>
                <a:schemeClr val="dk1"/>
              </a:buClr>
              <a:buSzPts val="1100"/>
              <a:buFont typeface="Arial"/>
              <a:buNone/>
            </a:pPr>
            <a:r>
              <a:rPr lang="en" sz="1600">
                <a:solidFill>
                  <a:schemeClr val="dk1"/>
                </a:solidFill>
                <a:latin typeface="Calibri"/>
                <a:ea typeface="Calibri"/>
                <a:cs typeface="Calibri"/>
                <a:sym typeface="Calibri"/>
              </a:rPr>
              <a:t>If exchange rates never moved, this would be </a:t>
            </a:r>
            <a:r>
              <a:rPr b="1" lang="en" sz="1600">
                <a:solidFill>
                  <a:schemeClr val="dk1"/>
                </a:solidFill>
                <a:latin typeface="Calibri"/>
                <a:ea typeface="Calibri"/>
                <a:cs typeface="Calibri"/>
                <a:sym typeface="Calibri"/>
              </a:rPr>
              <a:t>risk-free arbitrage</a:t>
            </a:r>
            <a:r>
              <a:rPr lang="en" sz="1600">
                <a:solidFill>
                  <a:schemeClr val="dk1"/>
                </a:solidFill>
                <a:latin typeface="Calibri"/>
                <a:ea typeface="Calibri"/>
                <a:cs typeface="Calibri"/>
                <a:sym typeface="Calibri"/>
              </a:rPr>
              <a:t>, but since this trade is </a:t>
            </a:r>
            <a:r>
              <a:rPr b="1" lang="en" sz="1600">
                <a:solidFill>
                  <a:schemeClr val="dk1"/>
                </a:solidFill>
                <a:latin typeface="Calibri"/>
                <a:ea typeface="Calibri"/>
                <a:cs typeface="Calibri"/>
                <a:sym typeface="Calibri"/>
              </a:rPr>
              <a:t>unhedged</a:t>
            </a:r>
            <a:r>
              <a:rPr lang="en" sz="1600">
                <a:solidFill>
                  <a:schemeClr val="dk1"/>
                </a:solidFill>
                <a:latin typeface="Calibri"/>
                <a:ea typeface="Calibri"/>
                <a:cs typeface="Calibri"/>
                <a:sym typeface="Calibri"/>
              </a:rPr>
              <a:t>, (meaning that we maintain FX exposure) we can still lose money if the currency we invest in </a:t>
            </a:r>
            <a:r>
              <a:rPr b="1" lang="en" sz="1600">
                <a:solidFill>
                  <a:schemeClr val="dk1"/>
                </a:solidFill>
                <a:latin typeface="Calibri"/>
                <a:ea typeface="Calibri"/>
                <a:cs typeface="Calibri"/>
                <a:sym typeface="Calibri"/>
              </a:rPr>
              <a:t>depreciates </a:t>
            </a:r>
            <a:r>
              <a:rPr lang="en" sz="1600">
                <a:solidFill>
                  <a:schemeClr val="dk1"/>
                </a:solidFill>
                <a:latin typeface="Calibri"/>
                <a:ea typeface="Calibri"/>
                <a:cs typeface="Calibri"/>
                <a:sym typeface="Calibri"/>
              </a:rPr>
              <a:t>more than the </a:t>
            </a:r>
            <a:r>
              <a:rPr b="1" lang="en" sz="1600">
                <a:solidFill>
                  <a:schemeClr val="dk1"/>
                </a:solidFill>
                <a:latin typeface="Calibri"/>
                <a:ea typeface="Calibri"/>
                <a:cs typeface="Calibri"/>
                <a:sym typeface="Calibri"/>
              </a:rPr>
              <a:t>interest spread</a:t>
            </a:r>
            <a:r>
              <a:rPr lang="en" sz="1600">
                <a:solidFill>
                  <a:schemeClr val="dk1"/>
                </a:solidFill>
                <a:latin typeface="Calibri"/>
                <a:ea typeface="Calibri"/>
                <a:cs typeface="Calibri"/>
                <a:sym typeface="Calibri"/>
              </a:rPr>
              <a:t> we capture.</a:t>
            </a:r>
            <a:endParaRPr/>
          </a:p>
        </p:txBody>
      </p:sp>
      <p:sp>
        <p:nvSpPr>
          <p:cNvPr id="78" name="Google Shape;78;p15"/>
          <p:cNvSpPr/>
          <p:nvPr/>
        </p:nvSpPr>
        <p:spPr>
          <a:xfrm>
            <a:off x="249063" y="3403849"/>
            <a:ext cx="8520600" cy="1207200"/>
          </a:xfrm>
          <a:prstGeom prst="roundRect">
            <a:avLst>
              <a:gd fmla="val 16667" name="adj"/>
            </a:avLst>
          </a:prstGeom>
          <a:noFill/>
          <a:ln cap="flat" cmpd="sng" w="7620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Clr>
                <a:schemeClr val="dk1"/>
              </a:buClr>
              <a:buSzPts val="1100"/>
              <a:buFont typeface="Arial"/>
              <a:buNone/>
            </a:pPr>
            <a:r>
              <a:rPr lang="en" sz="1600">
                <a:solidFill>
                  <a:schemeClr val="dk1"/>
                </a:solidFill>
                <a:latin typeface="Calibri"/>
                <a:ea typeface="Calibri"/>
                <a:cs typeface="Calibri"/>
                <a:sym typeface="Calibri"/>
              </a:rPr>
              <a:t>Additionally, unlike other product groups; carry trades aren’t priced in as quickly due to </a:t>
            </a:r>
            <a:r>
              <a:rPr b="1" lang="en" sz="1600">
                <a:solidFill>
                  <a:schemeClr val="dk1"/>
                </a:solidFill>
                <a:latin typeface="Calibri"/>
                <a:ea typeface="Calibri"/>
                <a:cs typeface="Calibri"/>
                <a:sym typeface="Calibri"/>
              </a:rPr>
              <a:t>institutional constraints</a:t>
            </a:r>
            <a:r>
              <a:rPr lang="en" sz="1600">
                <a:solidFill>
                  <a:schemeClr val="dk1"/>
                </a:solidFill>
                <a:latin typeface="Calibri"/>
                <a:ea typeface="Calibri"/>
                <a:cs typeface="Calibri"/>
                <a:sym typeface="Calibri"/>
              </a:rPr>
              <a:t> and </a:t>
            </a:r>
            <a:r>
              <a:rPr b="1" lang="en" sz="1600">
                <a:solidFill>
                  <a:schemeClr val="dk1"/>
                </a:solidFill>
                <a:latin typeface="Calibri"/>
                <a:ea typeface="Calibri"/>
                <a:cs typeface="Calibri"/>
                <a:sym typeface="Calibri"/>
              </a:rPr>
              <a:t>market segmentation</a:t>
            </a:r>
            <a:r>
              <a:rPr lang="en" sz="1600">
                <a:solidFill>
                  <a:schemeClr val="dk1"/>
                </a:solidFill>
                <a:latin typeface="Calibri"/>
                <a:ea typeface="Calibri"/>
                <a:cs typeface="Calibri"/>
                <a:sym typeface="Calibri"/>
              </a:rPr>
              <a:t>. Additionally, the </a:t>
            </a:r>
            <a:r>
              <a:rPr b="1" lang="en" sz="1600">
                <a:solidFill>
                  <a:schemeClr val="dk1"/>
                </a:solidFill>
                <a:latin typeface="Calibri"/>
                <a:ea typeface="Calibri"/>
                <a:cs typeface="Calibri"/>
                <a:sym typeface="Calibri"/>
              </a:rPr>
              <a:t>effective interest spread</a:t>
            </a:r>
            <a:r>
              <a:rPr lang="en" sz="1600">
                <a:solidFill>
                  <a:schemeClr val="dk1"/>
                </a:solidFill>
                <a:latin typeface="Calibri"/>
                <a:ea typeface="Calibri"/>
                <a:cs typeface="Calibri"/>
                <a:sym typeface="Calibri"/>
              </a:rPr>
              <a:t> represents a </a:t>
            </a:r>
            <a:r>
              <a:rPr b="1" lang="en" sz="1600">
                <a:solidFill>
                  <a:schemeClr val="dk1"/>
                </a:solidFill>
                <a:latin typeface="Calibri"/>
                <a:ea typeface="Calibri"/>
                <a:cs typeface="Calibri"/>
                <a:sym typeface="Calibri"/>
              </a:rPr>
              <a:t>risk premium</a:t>
            </a:r>
            <a:r>
              <a:rPr lang="en" sz="1600">
                <a:solidFill>
                  <a:schemeClr val="dk1"/>
                </a:solidFill>
                <a:latin typeface="Calibri"/>
                <a:ea typeface="Calibri"/>
                <a:cs typeface="Calibri"/>
                <a:sym typeface="Calibri"/>
              </a:rPr>
              <a:t> in the event of a Black Swan event where funding dries up. </a:t>
            </a:r>
            <a:endParaRPr sz="16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Trade Overview</a:t>
            </a:r>
            <a:endParaRPr i="1" sz="4000">
              <a:latin typeface="Calibri"/>
              <a:ea typeface="Calibri"/>
              <a:cs typeface="Calibri"/>
              <a:sym typeface="Calibri"/>
            </a:endParaRPr>
          </a:p>
        </p:txBody>
      </p:sp>
      <p:cxnSp>
        <p:nvCxnSpPr>
          <p:cNvPr id="84" name="Google Shape;84;p16"/>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sp>
        <p:nvSpPr>
          <p:cNvPr id="85" name="Google Shape;85;p16"/>
          <p:cNvSpPr/>
          <p:nvPr/>
        </p:nvSpPr>
        <p:spPr>
          <a:xfrm>
            <a:off x="238500" y="1164150"/>
            <a:ext cx="4200000" cy="9687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1200"/>
              </a:spcAft>
              <a:buNone/>
            </a:pPr>
            <a:r>
              <a:rPr lang="en" sz="2400">
                <a:solidFill>
                  <a:schemeClr val="dk1"/>
                </a:solidFill>
                <a:latin typeface="Calibri"/>
                <a:ea typeface="Calibri"/>
                <a:cs typeface="Calibri"/>
                <a:sym typeface="Calibri"/>
              </a:rPr>
              <a:t>1Y US Notes yield </a:t>
            </a:r>
            <a:r>
              <a:rPr b="1" lang="en" sz="2400">
                <a:solidFill>
                  <a:schemeClr val="dk1"/>
                </a:solidFill>
                <a:latin typeface="Calibri"/>
                <a:ea typeface="Calibri"/>
                <a:cs typeface="Calibri"/>
                <a:sym typeface="Calibri"/>
              </a:rPr>
              <a:t>3.</a:t>
            </a:r>
            <a:r>
              <a:rPr b="1" lang="en" sz="2400">
                <a:solidFill>
                  <a:schemeClr val="dk1"/>
                </a:solidFill>
                <a:latin typeface="Calibri"/>
                <a:ea typeface="Calibri"/>
                <a:cs typeface="Calibri"/>
                <a:sym typeface="Calibri"/>
              </a:rPr>
              <a:t>55</a:t>
            </a:r>
            <a:r>
              <a:rPr b="1" lang="en"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86" name="Google Shape;86;p16"/>
          <p:cNvSpPr/>
          <p:nvPr/>
        </p:nvSpPr>
        <p:spPr>
          <a:xfrm>
            <a:off x="238500" y="3004425"/>
            <a:ext cx="8667000" cy="12546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1200"/>
              </a:spcAft>
              <a:buNone/>
            </a:pPr>
            <a:r>
              <a:rPr lang="en" sz="2000">
                <a:solidFill>
                  <a:schemeClr val="dk1"/>
                </a:solidFill>
                <a:latin typeface="Calibri"/>
                <a:ea typeface="Calibri"/>
                <a:cs typeface="Calibri"/>
                <a:sym typeface="Calibri"/>
              </a:rPr>
              <a:t>Therefore, we should borrow CHF-denominated 6M bills, swap CHF for USD, and invest the proceeds in 1Y US treasury bonds to profit off of the yield differential.</a:t>
            </a:r>
            <a:endParaRPr sz="2000">
              <a:solidFill>
                <a:schemeClr val="dk1"/>
              </a:solidFill>
              <a:latin typeface="Calibri"/>
              <a:ea typeface="Calibri"/>
              <a:cs typeface="Calibri"/>
              <a:sym typeface="Calibri"/>
            </a:endParaRPr>
          </a:p>
        </p:txBody>
      </p:sp>
      <p:sp>
        <p:nvSpPr>
          <p:cNvPr id="87" name="Google Shape;87;p16"/>
          <p:cNvSpPr txBox="1"/>
          <p:nvPr/>
        </p:nvSpPr>
        <p:spPr>
          <a:xfrm>
            <a:off x="1183425" y="2299324"/>
            <a:ext cx="6824400" cy="43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en" sz="1800">
                <a:solidFill>
                  <a:schemeClr val="dk1"/>
                </a:solidFill>
                <a:latin typeface="Calibri"/>
                <a:ea typeface="Calibri"/>
                <a:cs typeface="Calibri"/>
                <a:sym typeface="Calibri"/>
              </a:rPr>
              <a:t>The USD/CHF spot rate is projected to remain stable to slightly bullish </a:t>
            </a:r>
            <a:endParaRPr b="1" i="1" sz="18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
        <p:nvSpPr>
          <p:cNvPr id="88" name="Google Shape;88;p16"/>
          <p:cNvSpPr/>
          <p:nvPr/>
        </p:nvSpPr>
        <p:spPr>
          <a:xfrm>
            <a:off x="4705500" y="1164150"/>
            <a:ext cx="4200000" cy="9687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1200"/>
              </a:spcAft>
              <a:buNone/>
            </a:pPr>
            <a:r>
              <a:rPr lang="en" sz="2400">
                <a:solidFill>
                  <a:schemeClr val="dk1"/>
                </a:solidFill>
                <a:latin typeface="Calibri"/>
                <a:ea typeface="Calibri"/>
                <a:cs typeface="Calibri"/>
                <a:sym typeface="Calibri"/>
              </a:rPr>
              <a:t>6M Swiss Bills yield </a:t>
            </a:r>
            <a:r>
              <a:rPr b="1" lang="en" sz="2400">
                <a:solidFill>
                  <a:schemeClr val="dk1"/>
                </a:solidFill>
                <a:latin typeface="Calibri"/>
                <a:ea typeface="Calibri"/>
                <a:cs typeface="Calibri"/>
                <a:sym typeface="Calibri"/>
              </a:rPr>
              <a:t>0.050%</a:t>
            </a:r>
            <a:endParaRPr sz="24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Macroeconomic Context</a:t>
            </a:r>
            <a:endParaRPr i="1" sz="4000">
              <a:latin typeface="Calibri"/>
              <a:ea typeface="Calibri"/>
              <a:cs typeface="Calibri"/>
              <a:sym typeface="Calibri"/>
            </a:endParaRPr>
          </a:p>
        </p:txBody>
      </p:sp>
      <p:cxnSp>
        <p:nvCxnSpPr>
          <p:cNvPr id="94" name="Google Shape;94;p17"/>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sp>
        <p:nvSpPr>
          <p:cNvPr id="95" name="Google Shape;95;p17"/>
          <p:cNvSpPr/>
          <p:nvPr/>
        </p:nvSpPr>
        <p:spPr>
          <a:xfrm>
            <a:off x="455250" y="2464450"/>
            <a:ext cx="8299500" cy="2222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t/>
            </a:r>
            <a:endParaRPr b="1" sz="1500">
              <a:solidFill>
                <a:schemeClr val="dk1"/>
              </a:solidFill>
            </a:endParaRPr>
          </a:p>
          <a:p>
            <a:pPr indent="0" lvl="0" marL="0" rtl="0" algn="l">
              <a:lnSpc>
                <a:spcPct val="115000"/>
              </a:lnSpc>
              <a:spcBef>
                <a:spcPts val="1200"/>
              </a:spcBef>
              <a:spcAft>
                <a:spcPts val="0"/>
              </a:spcAft>
              <a:buNone/>
            </a:pPr>
            <a:r>
              <a:rPr b="1" lang="en" sz="1500">
                <a:solidFill>
                  <a:schemeClr val="dk1"/>
                </a:solidFill>
              </a:rPr>
              <a:t>Swiss Exports:</a:t>
            </a:r>
            <a:r>
              <a:rPr lang="en" sz="1500">
                <a:solidFill>
                  <a:schemeClr val="dk1"/>
                </a:solidFill>
              </a:rPr>
              <a:t> Weakened exports and tariff frictions with the EU and U.S. have pressured Switzerland’s manufacturing sector, reinforcing dovish policy.</a:t>
            </a:r>
            <a:endParaRPr sz="15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 sz="1500">
                <a:solidFill>
                  <a:schemeClr val="dk1"/>
                </a:solidFill>
              </a:rPr>
              <a:t>Liberation Day</a:t>
            </a:r>
            <a:r>
              <a:rPr b="1" lang="en" sz="1500">
                <a:solidFill>
                  <a:schemeClr val="dk1"/>
                </a:solidFill>
              </a:rPr>
              <a:t>: </a:t>
            </a:r>
            <a:r>
              <a:rPr lang="en" sz="1500">
                <a:solidFill>
                  <a:schemeClr val="dk1"/>
                </a:solidFill>
              </a:rPr>
              <a:t>After Trump announced tariffs, rate volatility struck a peak of greater than 2.5% before settling back down to similar the mean pre-2024 volatility. However, the rate drifted down by 9% from Liberation Day to August at 0.80 and has held firm since after the market absorbed most of the associated shocks.</a:t>
            </a:r>
            <a:endParaRPr sz="1500">
              <a:solidFill>
                <a:schemeClr val="dk1"/>
              </a:solidFill>
            </a:endParaRPr>
          </a:p>
        </p:txBody>
      </p:sp>
      <p:sp>
        <p:nvSpPr>
          <p:cNvPr id="96" name="Google Shape;96;p17"/>
          <p:cNvSpPr/>
          <p:nvPr/>
        </p:nvSpPr>
        <p:spPr>
          <a:xfrm>
            <a:off x="455250" y="1067888"/>
            <a:ext cx="3984600" cy="12414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
        <p:nvSpPr>
          <p:cNvPr id="97" name="Google Shape;97;p17"/>
          <p:cNvSpPr txBox="1"/>
          <p:nvPr/>
        </p:nvSpPr>
        <p:spPr>
          <a:xfrm>
            <a:off x="2595431" y="1406450"/>
            <a:ext cx="1777800" cy="78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GDP Growth</a:t>
            </a:r>
            <a:endParaRPr b="1" sz="2400">
              <a:solidFill>
                <a:schemeClr val="dk1"/>
              </a:solidFill>
              <a:latin typeface="Calibri"/>
              <a:ea typeface="Calibri"/>
              <a:cs typeface="Calibri"/>
              <a:sym typeface="Calibri"/>
            </a:endParaRPr>
          </a:p>
          <a:p>
            <a:pPr indent="0" lvl="0" marL="0" rtl="0" algn="ctr">
              <a:spcBef>
                <a:spcPts val="0"/>
              </a:spcBef>
              <a:spcAft>
                <a:spcPts val="0"/>
              </a:spcAft>
              <a:buNone/>
            </a:pPr>
            <a:r>
              <a:rPr lang="en" sz="2400">
                <a:solidFill>
                  <a:schemeClr val="dk1"/>
                </a:solidFill>
                <a:latin typeface="Calibri"/>
                <a:ea typeface="Calibri"/>
                <a:cs typeface="Calibri"/>
                <a:sym typeface="Calibri"/>
              </a:rPr>
              <a:t>~2%</a:t>
            </a:r>
            <a:endParaRPr sz="1800">
              <a:solidFill>
                <a:schemeClr val="dk2"/>
              </a:solidFill>
            </a:endParaRPr>
          </a:p>
        </p:txBody>
      </p:sp>
      <p:sp>
        <p:nvSpPr>
          <p:cNvPr id="98" name="Google Shape;98;p17"/>
          <p:cNvSpPr txBox="1"/>
          <p:nvPr/>
        </p:nvSpPr>
        <p:spPr>
          <a:xfrm>
            <a:off x="518079" y="1406450"/>
            <a:ext cx="1547400" cy="78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Inflation</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rPr lang="en" sz="2400">
                <a:solidFill>
                  <a:schemeClr val="dk1"/>
                </a:solidFill>
                <a:latin typeface="Calibri"/>
                <a:ea typeface="Calibri"/>
                <a:cs typeface="Calibri"/>
                <a:sym typeface="Calibri"/>
              </a:rPr>
              <a:t>~2.6%</a:t>
            </a:r>
            <a:endParaRPr sz="1800">
              <a:solidFill>
                <a:schemeClr val="dk2"/>
              </a:solidFill>
            </a:endParaRPr>
          </a:p>
        </p:txBody>
      </p:sp>
      <p:sp>
        <p:nvSpPr>
          <p:cNvPr id="99" name="Google Shape;99;p17"/>
          <p:cNvSpPr/>
          <p:nvPr/>
        </p:nvSpPr>
        <p:spPr>
          <a:xfrm>
            <a:off x="4770250" y="1067888"/>
            <a:ext cx="3984600" cy="12414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7"/>
          <p:cNvSpPr txBox="1"/>
          <p:nvPr/>
        </p:nvSpPr>
        <p:spPr>
          <a:xfrm>
            <a:off x="4770250" y="1001800"/>
            <a:ext cx="3984600" cy="5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Calibri"/>
                <a:ea typeface="Calibri"/>
                <a:cs typeface="Calibri"/>
                <a:sym typeface="Calibri"/>
              </a:rPr>
              <a:t>Switzerland</a:t>
            </a:r>
            <a:endParaRPr b="1" sz="3000">
              <a:solidFill>
                <a:schemeClr val="dk1"/>
              </a:solidFill>
              <a:latin typeface="Calibri"/>
              <a:ea typeface="Calibri"/>
              <a:cs typeface="Calibri"/>
              <a:sym typeface="Calibri"/>
            </a:endParaRPr>
          </a:p>
        </p:txBody>
      </p:sp>
      <p:sp>
        <p:nvSpPr>
          <p:cNvPr id="101" name="Google Shape;101;p17"/>
          <p:cNvSpPr txBox="1"/>
          <p:nvPr/>
        </p:nvSpPr>
        <p:spPr>
          <a:xfrm>
            <a:off x="6844425" y="1439475"/>
            <a:ext cx="1777800" cy="78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GDP Growth</a:t>
            </a:r>
            <a:endParaRPr b="1" sz="2400">
              <a:solidFill>
                <a:schemeClr val="dk1"/>
              </a:solidFill>
              <a:latin typeface="Calibri"/>
              <a:ea typeface="Calibri"/>
              <a:cs typeface="Calibri"/>
              <a:sym typeface="Calibri"/>
            </a:endParaRPr>
          </a:p>
          <a:p>
            <a:pPr indent="0" lvl="0" marL="0" rtl="0" algn="ctr">
              <a:spcBef>
                <a:spcPts val="0"/>
              </a:spcBef>
              <a:spcAft>
                <a:spcPts val="0"/>
              </a:spcAft>
              <a:buNone/>
            </a:pPr>
            <a:r>
              <a:rPr lang="en" sz="2400">
                <a:solidFill>
                  <a:schemeClr val="dk1"/>
                </a:solidFill>
                <a:latin typeface="Calibri"/>
                <a:ea typeface="Calibri"/>
                <a:cs typeface="Calibri"/>
                <a:sym typeface="Calibri"/>
              </a:rPr>
              <a:t>&lt;1</a:t>
            </a:r>
            <a:r>
              <a:rPr lang="en" sz="2400">
                <a:solidFill>
                  <a:schemeClr val="dk1"/>
                </a:solidFill>
                <a:latin typeface="Calibri"/>
                <a:ea typeface="Calibri"/>
                <a:cs typeface="Calibri"/>
                <a:sym typeface="Calibri"/>
              </a:rPr>
              <a:t>%</a:t>
            </a:r>
            <a:endParaRPr sz="1800">
              <a:solidFill>
                <a:schemeClr val="dk2"/>
              </a:solidFill>
            </a:endParaRPr>
          </a:p>
        </p:txBody>
      </p:sp>
      <p:sp>
        <p:nvSpPr>
          <p:cNvPr id="102" name="Google Shape;102;p17"/>
          <p:cNvSpPr txBox="1"/>
          <p:nvPr/>
        </p:nvSpPr>
        <p:spPr>
          <a:xfrm>
            <a:off x="4977353" y="1439463"/>
            <a:ext cx="1486800" cy="78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Inflation</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rPr lang="en" sz="2400">
                <a:solidFill>
                  <a:schemeClr val="dk1"/>
                </a:solidFill>
                <a:latin typeface="Calibri"/>
                <a:ea typeface="Calibri"/>
                <a:cs typeface="Calibri"/>
                <a:sym typeface="Calibri"/>
              </a:rPr>
              <a:t>~1%</a:t>
            </a:r>
            <a:endParaRPr sz="1800">
              <a:solidFill>
                <a:schemeClr val="dk2"/>
              </a:solidFill>
            </a:endParaRPr>
          </a:p>
        </p:txBody>
      </p:sp>
      <p:sp>
        <p:nvSpPr>
          <p:cNvPr id="103" name="Google Shape;103;p17"/>
          <p:cNvSpPr txBox="1"/>
          <p:nvPr/>
        </p:nvSpPr>
        <p:spPr>
          <a:xfrm>
            <a:off x="455200" y="994875"/>
            <a:ext cx="3984600" cy="65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Calibri"/>
                <a:ea typeface="Calibri"/>
                <a:cs typeface="Calibri"/>
                <a:sym typeface="Calibri"/>
              </a:rPr>
              <a:t>United States</a:t>
            </a:r>
            <a:endParaRPr b="1" sz="3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3500">
                <a:latin typeface="Calibri"/>
                <a:ea typeface="Calibri"/>
                <a:cs typeface="Calibri"/>
                <a:sym typeface="Calibri"/>
              </a:rPr>
              <a:t>Macro Drivers: Swiss Foreign Exchange Policy</a:t>
            </a:r>
            <a:endParaRPr i="1" sz="3500">
              <a:latin typeface="Calibri"/>
              <a:ea typeface="Calibri"/>
              <a:cs typeface="Calibri"/>
              <a:sym typeface="Calibri"/>
            </a:endParaRPr>
          </a:p>
        </p:txBody>
      </p:sp>
      <p:cxnSp>
        <p:nvCxnSpPr>
          <p:cNvPr id="109" name="Google Shape;109;p18"/>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sp>
        <p:nvSpPr>
          <p:cNvPr id="110" name="Google Shape;110;p18"/>
          <p:cNvSpPr/>
          <p:nvPr/>
        </p:nvSpPr>
        <p:spPr>
          <a:xfrm>
            <a:off x="262125" y="964150"/>
            <a:ext cx="8667000" cy="5472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200000"/>
              </a:lnSpc>
              <a:spcBef>
                <a:spcPts val="0"/>
              </a:spcBef>
              <a:spcAft>
                <a:spcPts val="1200"/>
              </a:spcAft>
              <a:buNone/>
            </a:pPr>
            <a:r>
              <a:rPr b="1" lang="en" sz="1800">
                <a:solidFill>
                  <a:schemeClr val="dk2"/>
                </a:solidFill>
                <a:latin typeface="Calibri"/>
                <a:ea typeface="Calibri"/>
                <a:cs typeface="Calibri"/>
                <a:sym typeface="Calibri"/>
              </a:rPr>
              <a:t>Sustained Low Swiss Interest Rates</a:t>
            </a:r>
            <a:endParaRPr sz="1800">
              <a:solidFill>
                <a:schemeClr val="dk1"/>
              </a:solidFill>
              <a:latin typeface="Calibri"/>
              <a:ea typeface="Calibri"/>
              <a:cs typeface="Calibri"/>
              <a:sym typeface="Calibri"/>
            </a:endParaRPr>
          </a:p>
        </p:txBody>
      </p:sp>
      <p:sp>
        <p:nvSpPr>
          <p:cNvPr id="111" name="Google Shape;111;p18"/>
          <p:cNvSpPr/>
          <p:nvPr/>
        </p:nvSpPr>
        <p:spPr>
          <a:xfrm>
            <a:off x="335325" y="1786723"/>
            <a:ext cx="8520600" cy="29253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chemeClr val="accent2"/>
                </a:solidFill>
                <a:latin typeface="Calibri"/>
                <a:ea typeface="Calibri"/>
                <a:cs typeface="Calibri"/>
                <a:sym typeface="Calibri"/>
              </a:rPr>
              <a:t>The SNB historically keeps rates low in order to counteract the high demand for CHF that permeates the market</a:t>
            </a:r>
            <a:endParaRPr b="1" sz="1800">
              <a:solidFill>
                <a:schemeClr val="accent2"/>
              </a:solidFill>
              <a:latin typeface="Calibri"/>
              <a:ea typeface="Calibri"/>
              <a:cs typeface="Calibri"/>
              <a:sym typeface="Calibri"/>
            </a:endParaRPr>
          </a:p>
          <a:p>
            <a:pPr indent="0" lvl="0" marL="0" rtl="0" algn="ctr">
              <a:lnSpc>
                <a:spcPct val="115000"/>
              </a:lnSpc>
              <a:spcBef>
                <a:spcPts val="1200"/>
              </a:spcBef>
              <a:spcAft>
                <a:spcPts val="0"/>
              </a:spcAft>
              <a:buNone/>
            </a:pPr>
            <a:r>
              <a:rPr lang="en" sz="1800">
                <a:solidFill>
                  <a:schemeClr val="accent2"/>
                </a:solidFill>
                <a:latin typeface="Calibri"/>
                <a:ea typeface="Calibri"/>
                <a:cs typeface="Calibri"/>
                <a:sym typeface="Calibri"/>
              </a:rPr>
              <a:t>This is due to the fact that an overly strengthened CHF contributes to weakened exports and lower import costs, which in a borderline deflationary economy, is problematic.</a:t>
            </a:r>
            <a:endParaRPr sz="1800">
              <a:solidFill>
                <a:schemeClr val="accent2"/>
              </a:solidFill>
              <a:latin typeface="Calibri"/>
              <a:ea typeface="Calibri"/>
              <a:cs typeface="Calibri"/>
              <a:sym typeface="Calibri"/>
            </a:endParaRPr>
          </a:p>
          <a:p>
            <a:pPr indent="0" lvl="0" marL="0" rtl="0" algn="ctr">
              <a:lnSpc>
                <a:spcPct val="115000"/>
              </a:lnSpc>
              <a:spcBef>
                <a:spcPts val="1200"/>
              </a:spcBef>
              <a:spcAft>
                <a:spcPts val="1200"/>
              </a:spcAft>
              <a:buNone/>
            </a:pPr>
            <a:r>
              <a:rPr lang="en" sz="1800">
                <a:solidFill>
                  <a:schemeClr val="accent2"/>
                </a:solidFill>
                <a:latin typeface="Calibri"/>
                <a:ea typeface="Calibri"/>
                <a:cs typeface="Calibri"/>
                <a:sym typeface="Calibri"/>
              </a:rPr>
              <a:t>Investors demand the Swiss franc due to its status as a safe haven asset during periods of global turmoil.</a:t>
            </a:r>
            <a:endParaRPr>
              <a:solidFill>
                <a:schemeClr val="accent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Macro Drivers: American Rates </a:t>
            </a:r>
            <a:endParaRPr i="1" sz="4000">
              <a:latin typeface="Calibri"/>
              <a:ea typeface="Calibri"/>
              <a:cs typeface="Calibri"/>
              <a:sym typeface="Calibri"/>
            </a:endParaRPr>
          </a:p>
        </p:txBody>
      </p:sp>
      <p:cxnSp>
        <p:nvCxnSpPr>
          <p:cNvPr id="117" name="Google Shape;117;p19"/>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sp>
        <p:nvSpPr>
          <p:cNvPr id="118" name="Google Shape;118;p19"/>
          <p:cNvSpPr/>
          <p:nvPr/>
        </p:nvSpPr>
        <p:spPr>
          <a:xfrm>
            <a:off x="229000" y="964150"/>
            <a:ext cx="4255200" cy="5403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lang="en" sz="1800">
                <a:solidFill>
                  <a:schemeClr val="dk2"/>
                </a:solidFill>
                <a:latin typeface="Calibri"/>
                <a:ea typeface="Calibri"/>
                <a:cs typeface="Calibri"/>
                <a:sym typeface="Calibri"/>
              </a:rPr>
              <a:t>American Rate Policy</a:t>
            </a:r>
            <a:endParaRPr sz="1800">
              <a:solidFill>
                <a:schemeClr val="dk1"/>
              </a:solidFill>
              <a:latin typeface="Calibri"/>
              <a:ea typeface="Calibri"/>
              <a:cs typeface="Calibri"/>
              <a:sym typeface="Calibri"/>
            </a:endParaRPr>
          </a:p>
        </p:txBody>
      </p:sp>
      <p:sp>
        <p:nvSpPr>
          <p:cNvPr id="119" name="Google Shape;119;p19"/>
          <p:cNvSpPr/>
          <p:nvPr/>
        </p:nvSpPr>
        <p:spPr>
          <a:xfrm>
            <a:off x="250998" y="1734250"/>
            <a:ext cx="4255200" cy="3172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latin typeface="Calibri"/>
              <a:ea typeface="Calibri"/>
              <a:cs typeface="Calibri"/>
              <a:sym typeface="Calibri"/>
            </a:endParaRPr>
          </a:p>
        </p:txBody>
      </p:sp>
      <p:sp>
        <p:nvSpPr>
          <p:cNvPr id="120" name="Google Shape;120;p19"/>
          <p:cNvSpPr/>
          <p:nvPr/>
        </p:nvSpPr>
        <p:spPr>
          <a:xfrm>
            <a:off x="4716250" y="964150"/>
            <a:ext cx="4255200" cy="5403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lang="en" sz="1800">
                <a:solidFill>
                  <a:schemeClr val="dk2"/>
                </a:solidFill>
                <a:latin typeface="Calibri"/>
                <a:ea typeface="Calibri"/>
                <a:cs typeface="Calibri"/>
                <a:sym typeface="Calibri"/>
              </a:rPr>
              <a:t>Resilient USD</a:t>
            </a:r>
            <a:endParaRPr sz="1800">
              <a:solidFill>
                <a:schemeClr val="dk1"/>
              </a:solidFill>
              <a:latin typeface="Calibri"/>
              <a:ea typeface="Calibri"/>
              <a:cs typeface="Calibri"/>
              <a:sym typeface="Calibri"/>
            </a:endParaRPr>
          </a:p>
        </p:txBody>
      </p:sp>
      <p:sp>
        <p:nvSpPr>
          <p:cNvPr id="121" name="Google Shape;121;p19"/>
          <p:cNvSpPr/>
          <p:nvPr/>
        </p:nvSpPr>
        <p:spPr>
          <a:xfrm>
            <a:off x="4716314" y="1734250"/>
            <a:ext cx="4255200" cy="3172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200">
                <a:solidFill>
                  <a:schemeClr val="dk1"/>
                </a:solidFill>
                <a:latin typeface="Calibri"/>
                <a:ea typeface="Calibri"/>
                <a:cs typeface="Calibri"/>
                <a:sym typeface="Calibri"/>
              </a:rPr>
              <a:t>Despite global macroeconomic unease, the trend of USD depreciation has been more muted, with the </a:t>
            </a:r>
            <a:r>
              <a:rPr b="1" lang="en" sz="1200">
                <a:solidFill>
                  <a:schemeClr val="dk1"/>
                </a:solidFill>
                <a:latin typeface="Calibri"/>
                <a:ea typeface="Calibri"/>
                <a:cs typeface="Calibri"/>
                <a:sym typeface="Calibri"/>
              </a:rPr>
              <a:t>US Dollar Index rising 1.8% </a:t>
            </a:r>
            <a:r>
              <a:rPr lang="en" sz="1200">
                <a:solidFill>
                  <a:schemeClr val="dk1"/>
                </a:solidFill>
                <a:latin typeface="Calibri"/>
                <a:ea typeface="Calibri"/>
                <a:cs typeface="Calibri"/>
                <a:sym typeface="Calibri"/>
              </a:rPr>
              <a:t>following de-escalation of trade tensions with China </a:t>
            </a:r>
            <a:endParaRPr sz="1200">
              <a:solidFill>
                <a:schemeClr val="dk1"/>
              </a:solidFill>
              <a:latin typeface="Calibri"/>
              <a:ea typeface="Calibri"/>
              <a:cs typeface="Calibri"/>
              <a:sym typeface="Calibri"/>
            </a:endParaRPr>
          </a:p>
          <a:p>
            <a:pPr indent="0" lvl="0" marL="0" rtl="0" algn="ctr">
              <a:lnSpc>
                <a:spcPct val="115000"/>
              </a:lnSpc>
              <a:spcBef>
                <a:spcPts val="1200"/>
              </a:spcBef>
              <a:spcAft>
                <a:spcPts val="0"/>
              </a:spcAft>
              <a:buNone/>
            </a:pPr>
            <a:r>
              <a:rPr lang="en" sz="1200">
                <a:solidFill>
                  <a:schemeClr val="dk1"/>
                </a:solidFill>
                <a:latin typeface="Calibri"/>
                <a:ea typeface="Calibri"/>
                <a:cs typeface="Calibri"/>
                <a:sym typeface="Calibri"/>
              </a:rPr>
              <a:t>Volatility and trade fluctuations will still likely happen, but based on Trump’s track record, a deal or compromise will be reached eventually without any significant short-term equilibrium shifts</a:t>
            </a:r>
            <a:endParaRPr sz="1200">
              <a:solidFill>
                <a:schemeClr val="dk1"/>
              </a:solidFill>
              <a:latin typeface="Calibri"/>
              <a:ea typeface="Calibri"/>
              <a:cs typeface="Calibri"/>
              <a:sym typeface="Calibri"/>
            </a:endParaRPr>
          </a:p>
          <a:p>
            <a:pPr indent="0" lvl="0" marL="0" rtl="0" algn="ctr">
              <a:lnSpc>
                <a:spcPct val="115000"/>
              </a:lnSpc>
              <a:spcBef>
                <a:spcPts val="1200"/>
              </a:spcBef>
              <a:spcAft>
                <a:spcPts val="0"/>
              </a:spcAft>
              <a:buNone/>
            </a:pPr>
            <a:r>
              <a:rPr lang="en" sz="1200">
                <a:solidFill>
                  <a:schemeClr val="dk1"/>
                </a:solidFill>
                <a:latin typeface="Calibri"/>
                <a:ea typeface="Calibri"/>
                <a:cs typeface="Calibri"/>
                <a:sym typeface="Calibri"/>
              </a:rPr>
              <a:t>Bloomberg consensus</a:t>
            </a:r>
            <a:r>
              <a:rPr b="1" lang="en" sz="1200">
                <a:solidFill>
                  <a:schemeClr val="dk1"/>
                </a:solidFill>
                <a:latin typeface="Calibri"/>
                <a:ea typeface="Calibri"/>
                <a:cs typeface="Calibri"/>
                <a:sym typeface="Calibri"/>
              </a:rPr>
              <a:t> projects the USD/CHF exchange rate to remain stable in the near future</a:t>
            </a:r>
            <a:r>
              <a:rPr lang="en" sz="1200">
                <a:solidFill>
                  <a:schemeClr val="dk1"/>
                </a:solidFill>
                <a:latin typeface="Calibri"/>
                <a:ea typeface="Calibri"/>
                <a:cs typeface="Calibri"/>
                <a:sym typeface="Calibri"/>
              </a:rPr>
              <a:t>. Forward rates and forecasts diverge from each other after 2026, beyond the scope of the pitch.</a:t>
            </a:r>
            <a:endParaRPr sz="1200">
              <a:solidFill>
                <a:schemeClr val="dk1"/>
              </a:solidFill>
              <a:latin typeface="Calibri"/>
              <a:ea typeface="Calibri"/>
              <a:cs typeface="Calibri"/>
              <a:sym typeface="Calibri"/>
            </a:endParaRPr>
          </a:p>
          <a:p>
            <a:pPr indent="0" lvl="0" marL="0" rtl="0" algn="ctr">
              <a:spcBef>
                <a:spcPts val="1200"/>
              </a:spcBef>
              <a:spcAft>
                <a:spcPts val="0"/>
              </a:spcAft>
              <a:buNone/>
            </a:pPr>
            <a:r>
              <a:t/>
            </a:r>
            <a:endParaRPr sz="1200">
              <a:latin typeface="Calibri"/>
              <a:ea typeface="Calibri"/>
              <a:cs typeface="Calibri"/>
              <a:sym typeface="Calibri"/>
            </a:endParaRPr>
          </a:p>
        </p:txBody>
      </p:sp>
      <p:pic>
        <p:nvPicPr>
          <p:cNvPr id="122" name="Google Shape;122;p19"/>
          <p:cNvPicPr preferRelativeResize="0"/>
          <p:nvPr/>
        </p:nvPicPr>
        <p:blipFill>
          <a:blip r:embed="rId3">
            <a:alphaModFix/>
          </a:blip>
          <a:stretch>
            <a:fillRect/>
          </a:stretch>
        </p:blipFill>
        <p:spPr>
          <a:xfrm>
            <a:off x="4923737" y="4454296"/>
            <a:ext cx="3840220" cy="322334"/>
          </a:xfrm>
          <a:prstGeom prst="rect">
            <a:avLst/>
          </a:prstGeom>
          <a:noFill/>
          <a:ln>
            <a:noFill/>
          </a:ln>
        </p:spPr>
      </p:pic>
      <p:pic>
        <p:nvPicPr>
          <p:cNvPr id="123" name="Google Shape;123;p19"/>
          <p:cNvPicPr preferRelativeResize="0"/>
          <p:nvPr/>
        </p:nvPicPr>
        <p:blipFill>
          <a:blip r:embed="rId4">
            <a:alphaModFix/>
          </a:blip>
          <a:stretch>
            <a:fillRect/>
          </a:stretch>
        </p:blipFill>
        <p:spPr>
          <a:xfrm>
            <a:off x="5721149" y="4372480"/>
            <a:ext cx="2983365" cy="81816"/>
          </a:xfrm>
          <a:prstGeom prst="rect">
            <a:avLst/>
          </a:prstGeom>
          <a:noFill/>
          <a:ln>
            <a:noFill/>
          </a:ln>
        </p:spPr>
      </p:pic>
      <p:sp>
        <p:nvSpPr>
          <p:cNvPr id="124" name="Google Shape;124;p19"/>
          <p:cNvSpPr txBox="1"/>
          <p:nvPr/>
        </p:nvSpPr>
        <p:spPr>
          <a:xfrm>
            <a:off x="293000" y="1877075"/>
            <a:ext cx="4171200" cy="3318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The Fed has signalled a less dovish approach following the FOMC meeting in October with the CME’s Fedwatch lowering its estimates of a cut in December from 90% to 70%</a:t>
            </a:r>
            <a:endParaRPr sz="1800">
              <a:solidFill>
                <a:schemeClr val="dk1"/>
              </a:solidFill>
              <a:latin typeface="Calibri"/>
              <a:ea typeface="Calibri"/>
              <a:cs typeface="Calibri"/>
              <a:sym typeface="Calibri"/>
            </a:endParaRPr>
          </a:p>
          <a:p>
            <a:pPr indent="0" lvl="0" marL="0" rtl="0" algn="ctr">
              <a:lnSpc>
                <a:spcPct val="115000"/>
              </a:lnSpc>
              <a:spcBef>
                <a:spcPts val="1200"/>
              </a:spcBef>
              <a:spcAft>
                <a:spcPts val="0"/>
              </a:spcAft>
              <a:buClr>
                <a:schemeClr val="dk1"/>
              </a:buClr>
              <a:buSzPts val="1100"/>
              <a:buFont typeface="Arial"/>
              <a:buNone/>
            </a:pPr>
            <a:r>
              <a:rPr lang="en" sz="1800">
                <a:solidFill>
                  <a:schemeClr val="dk1"/>
                </a:solidFill>
                <a:latin typeface="Calibri"/>
                <a:ea typeface="Calibri"/>
                <a:cs typeface="Calibri"/>
                <a:sym typeface="Calibri"/>
              </a:rPr>
              <a:t>Financial markets have priced in 2-3 cuts during 2026 while the Fed is more conservative with only 1 cut signalled. </a:t>
            </a:r>
            <a:endParaRPr sz="18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Risk Profile</a:t>
            </a:r>
            <a:endParaRPr i="1" sz="4000">
              <a:latin typeface="Calibri"/>
              <a:ea typeface="Calibri"/>
              <a:cs typeface="Calibri"/>
              <a:sym typeface="Calibri"/>
            </a:endParaRPr>
          </a:p>
        </p:txBody>
      </p:sp>
      <p:cxnSp>
        <p:nvCxnSpPr>
          <p:cNvPr id="130" name="Google Shape;130;p20"/>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grpSp>
        <p:nvGrpSpPr>
          <p:cNvPr id="131" name="Google Shape;131;p20"/>
          <p:cNvGrpSpPr/>
          <p:nvPr/>
        </p:nvGrpSpPr>
        <p:grpSpPr>
          <a:xfrm>
            <a:off x="80432" y="1049150"/>
            <a:ext cx="8916008" cy="592200"/>
            <a:chOff x="171375" y="1071075"/>
            <a:chExt cx="8715550" cy="592200"/>
          </a:xfrm>
        </p:grpSpPr>
        <p:sp>
          <p:nvSpPr>
            <p:cNvPr id="132" name="Google Shape;132;p20"/>
            <p:cNvSpPr/>
            <p:nvPr/>
          </p:nvSpPr>
          <p:spPr>
            <a:xfrm>
              <a:off x="1418425" y="1071075"/>
              <a:ext cx="7468500" cy="59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0"/>
            <p:cNvSpPr/>
            <p:nvPr/>
          </p:nvSpPr>
          <p:spPr>
            <a:xfrm>
              <a:off x="171375" y="1071075"/>
              <a:ext cx="1696800" cy="592200"/>
            </a:xfrm>
            <a:prstGeom prst="chevron">
              <a:avLst>
                <a:gd fmla="val 50000"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Clr>
                  <a:schemeClr val="dk1"/>
                </a:buClr>
                <a:buSzPts val="1100"/>
                <a:buFont typeface="Arial"/>
                <a:buNone/>
              </a:pPr>
              <a:r>
                <a:rPr b="1" lang="en" sz="1200">
                  <a:solidFill>
                    <a:schemeClr val="dk2"/>
                  </a:solidFill>
                  <a:latin typeface="Calibri"/>
                  <a:ea typeface="Calibri"/>
                  <a:cs typeface="Calibri"/>
                  <a:sym typeface="Calibri"/>
                </a:rPr>
                <a:t>Sovereign    Risk</a:t>
              </a:r>
              <a:endParaRPr sz="1200">
                <a:latin typeface="Calibri"/>
                <a:ea typeface="Calibri"/>
                <a:cs typeface="Calibri"/>
                <a:sym typeface="Calibri"/>
              </a:endParaRPr>
            </a:p>
          </p:txBody>
        </p:sp>
      </p:grpSp>
      <p:grpSp>
        <p:nvGrpSpPr>
          <p:cNvPr id="134" name="Google Shape;134;p20"/>
          <p:cNvGrpSpPr/>
          <p:nvPr/>
        </p:nvGrpSpPr>
        <p:grpSpPr>
          <a:xfrm>
            <a:off x="80432" y="2111800"/>
            <a:ext cx="8916008" cy="592200"/>
            <a:chOff x="171375" y="1071075"/>
            <a:chExt cx="8715550" cy="592200"/>
          </a:xfrm>
        </p:grpSpPr>
        <p:sp>
          <p:nvSpPr>
            <p:cNvPr id="135" name="Google Shape;135;p20"/>
            <p:cNvSpPr/>
            <p:nvPr/>
          </p:nvSpPr>
          <p:spPr>
            <a:xfrm>
              <a:off x="1418425" y="1071075"/>
              <a:ext cx="7468500" cy="59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0"/>
            <p:cNvSpPr/>
            <p:nvPr/>
          </p:nvSpPr>
          <p:spPr>
            <a:xfrm>
              <a:off x="171375" y="1071075"/>
              <a:ext cx="1696800" cy="592200"/>
            </a:xfrm>
            <a:prstGeom prst="chevron">
              <a:avLst>
                <a:gd fmla="val 50000"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lang="en" sz="1200">
                  <a:solidFill>
                    <a:schemeClr val="dk2"/>
                  </a:solidFill>
                  <a:latin typeface="Calibri"/>
                  <a:ea typeface="Calibri"/>
                  <a:cs typeface="Calibri"/>
                  <a:sym typeface="Calibri"/>
                </a:rPr>
                <a:t>Liquidity</a:t>
              </a:r>
              <a:r>
                <a:rPr b="1" lang="en" sz="1200">
                  <a:solidFill>
                    <a:schemeClr val="dk2"/>
                  </a:solidFill>
                  <a:latin typeface="Calibri"/>
                  <a:ea typeface="Calibri"/>
                  <a:cs typeface="Calibri"/>
                  <a:sym typeface="Calibri"/>
                </a:rPr>
                <a:t>     Risk</a:t>
              </a:r>
              <a:endParaRPr sz="1200">
                <a:latin typeface="Calibri"/>
                <a:ea typeface="Calibri"/>
                <a:cs typeface="Calibri"/>
                <a:sym typeface="Calibri"/>
              </a:endParaRPr>
            </a:p>
          </p:txBody>
        </p:sp>
      </p:grpSp>
      <p:grpSp>
        <p:nvGrpSpPr>
          <p:cNvPr id="137" name="Google Shape;137;p20"/>
          <p:cNvGrpSpPr/>
          <p:nvPr/>
        </p:nvGrpSpPr>
        <p:grpSpPr>
          <a:xfrm>
            <a:off x="80432" y="3174450"/>
            <a:ext cx="8916008" cy="592200"/>
            <a:chOff x="171375" y="1071075"/>
            <a:chExt cx="8715550" cy="592200"/>
          </a:xfrm>
        </p:grpSpPr>
        <p:sp>
          <p:nvSpPr>
            <p:cNvPr id="138" name="Google Shape;138;p20"/>
            <p:cNvSpPr/>
            <p:nvPr/>
          </p:nvSpPr>
          <p:spPr>
            <a:xfrm>
              <a:off x="1418425" y="1071075"/>
              <a:ext cx="7468500" cy="59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20"/>
            <p:cNvSpPr/>
            <p:nvPr/>
          </p:nvSpPr>
          <p:spPr>
            <a:xfrm>
              <a:off x="171375" y="1071075"/>
              <a:ext cx="1696800" cy="592200"/>
            </a:xfrm>
            <a:prstGeom prst="chevron">
              <a:avLst>
                <a:gd fmla="val 50000"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lang="en" sz="1200">
                  <a:solidFill>
                    <a:schemeClr val="dk2"/>
                  </a:solidFill>
                  <a:latin typeface="Calibri"/>
                  <a:ea typeface="Calibri"/>
                  <a:cs typeface="Calibri"/>
                  <a:sym typeface="Calibri"/>
                </a:rPr>
                <a:t>Swiss Rate Hikes</a:t>
              </a:r>
              <a:endParaRPr sz="1200">
                <a:latin typeface="Calibri"/>
                <a:ea typeface="Calibri"/>
                <a:cs typeface="Calibri"/>
                <a:sym typeface="Calibri"/>
              </a:endParaRPr>
            </a:p>
          </p:txBody>
        </p:sp>
      </p:grpSp>
      <p:grpSp>
        <p:nvGrpSpPr>
          <p:cNvPr id="140" name="Google Shape;140;p20"/>
          <p:cNvGrpSpPr/>
          <p:nvPr/>
        </p:nvGrpSpPr>
        <p:grpSpPr>
          <a:xfrm>
            <a:off x="80432" y="4237100"/>
            <a:ext cx="8916008" cy="592200"/>
            <a:chOff x="171375" y="1071075"/>
            <a:chExt cx="8715550" cy="592200"/>
          </a:xfrm>
        </p:grpSpPr>
        <p:sp>
          <p:nvSpPr>
            <p:cNvPr id="141" name="Google Shape;141;p20"/>
            <p:cNvSpPr/>
            <p:nvPr/>
          </p:nvSpPr>
          <p:spPr>
            <a:xfrm>
              <a:off x="1418425" y="1071075"/>
              <a:ext cx="7468500" cy="59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0"/>
            <p:cNvSpPr/>
            <p:nvPr/>
          </p:nvSpPr>
          <p:spPr>
            <a:xfrm>
              <a:off x="171375" y="1071075"/>
              <a:ext cx="1696800" cy="592200"/>
            </a:xfrm>
            <a:prstGeom prst="chevron">
              <a:avLst>
                <a:gd fmla="val 50000"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 sz="1150">
                  <a:solidFill>
                    <a:schemeClr val="dk2"/>
                  </a:solidFill>
                  <a:latin typeface="Calibri"/>
                  <a:ea typeface="Calibri"/>
                  <a:cs typeface="Calibri"/>
                  <a:sym typeface="Calibri"/>
                </a:rPr>
                <a:t>Flight-to-Safety Mechanisms</a:t>
              </a:r>
              <a:endParaRPr sz="1150">
                <a:latin typeface="Calibri"/>
                <a:ea typeface="Calibri"/>
                <a:cs typeface="Calibri"/>
                <a:sym typeface="Calibri"/>
              </a:endParaRPr>
            </a:p>
          </p:txBody>
        </p:sp>
      </p:grpSp>
      <p:sp>
        <p:nvSpPr>
          <p:cNvPr id="143" name="Google Shape;143;p20"/>
          <p:cNvSpPr txBox="1"/>
          <p:nvPr/>
        </p:nvSpPr>
        <p:spPr>
          <a:xfrm>
            <a:off x="1824166" y="1071048"/>
            <a:ext cx="7051800" cy="54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Minimal concern since both countries are OECD members. Long-term U.S. sovereign risk may only impact the far end of the yield curve.</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
        <p:nvSpPr>
          <p:cNvPr id="144" name="Google Shape;144;p20"/>
          <p:cNvSpPr txBox="1"/>
          <p:nvPr/>
        </p:nvSpPr>
        <p:spPr>
          <a:xfrm>
            <a:off x="1824166" y="2133711"/>
            <a:ext cx="7051800" cy="54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Calibri"/>
                <a:ea typeface="Calibri"/>
                <a:cs typeface="Calibri"/>
                <a:sym typeface="Calibri"/>
              </a:rPr>
              <a:t>1Y Treasuries are highly liquid, allowing easy exit. However, rapid rate hikes or a broad USD sell-off could force an exit at a discount.</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
        <p:nvSpPr>
          <p:cNvPr id="145" name="Google Shape;145;p20"/>
          <p:cNvSpPr txBox="1"/>
          <p:nvPr/>
        </p:nvSpPr>
        <p:spPr>
          <a:xfrm>
            <a:off x="1824166" y="3166514"/>
            <a:ext cx="7051800" cy="54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Calibri"/>
                <a:ea typeface="Calibri"/>
                <a:cs typeface="Calibri"/>
                <a:sym typeface="Calibri"/>
              </a:rPr>
              <a:t>Low probability given slowing growth, weak exports, and sub-target inflation. While not explicitly dovish, the SNB is unlikely to tighten in the near term.</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
        <p:nvSpPr>
          <p:cNvPr id="146" name="Google Shape;146;p20"/>
          <p:cNvSpPr txBox="1"/>
          <p:nvPr/>
        </p:nvSpPr>
        <p:spPr>
          <a:xfrm>
            <a:off x="1824166" y="4237112"/>
            <a:ext cx="7051800" cy="54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Calibri"/>
                <a:ea typeface="Calibri"/>
                <a:cs typeface="Calibri"/>
                <a:sym typeface="Calibri"/>
              </a:rPr>
              <a:t>CHF can strengthen during global shocks, though these events are infrequent. Historical peaks (+7–11% vs USD) represent upper-bound volatility scenarios; recent stability suggests limited near-term risk.</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p:nvPr/>
        </p:nvSpPr>
        <p:spPr>
          <a:xfrm>
            <a:off x="1076550" y="1632438"/>
            <a:ext cx="4799400" cy="743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5000"/>
              </a:lnSpc>
              <a:spcBef>
                <a:spcPts val="0"/>
              </a:spcBef>
              <a:spcAft>
                <a:spcPts val="1200"/>
              </a:spcAft>
              <a:buNone/>
            </a:pPr>
            <a:r>
              <a:t/>
            </a:r>
            <a:endParaRPr/>
          </a:p>
        </p:txBody>
      </p:sp>
      <p:sp>
        <p:nvSpPr>
          <p:cNvPr id="152" name="Google Shape;152;p21"/>
          <p:cNvSpPr/>
          <p:nvPr/>
        </p:nvSpPr>
        <p:spPr>
          <a:xfrm>
            <a:off x="994350" y="960375"/>
            <a:ext cx="6531900" cy="5403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t/>
            </a:r>
            <a:endParaRPr sz="1800">
              <a:solidFill>
                <a:schemeClr val="dk1"/>
              </a:solidFill>
              <a:latin typeface="Calibri"/>
              <a:ea typeface="Calibri"/>
              <a:cs typeface="Calibri"/>
              <a:sym typeface="Calibri"/>
            </a:endParaRPr>
          </a:p>
        </p:txBody>
      </p:sp>
      <p:sp>
        <p:nvSpPr>
          <p:cNvPr id="153" name="Google Shape;153;p21"/>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PnL Profile</a:t>
            </a:r>
            <a:endParaRPr i="1" sz="4000">
              <a:latin typeface="Calibri"/>
              <a:ea typeface="Calibri"/>
              <a:cs typeface="Calibri"/>
              <a:sym typeface="Calibri"/>
            </a:endParaRPr>
          </a:p>
        </p:txBody>
      </p:sp>
      <p:cxnSp>
        <p:nvCxnSpPr>
          <p:cNvPr id="154" name="Google Shape;154;p21"/>
          <p:cNvCxnSpPr/>
          <p:nvPr/>
        </p:nvCxnSpPr>
        <p:spPr>
          <a:xfrm>
            <a:off x="-23550" y="811925"/>
            <a:ext cx="9191100" cy="32100"/>
          </a:xfrm>
          <a:prstGeom prst="straightConnector1">
            <a:avLst/>
          </a:prstGeom>
          <a:noFill/>
          <a:ln cap="flat" cmpd="sng" w="9525">
            <a:solidFill>
              <a:schemeClr val="dk2"/>
            </a:solidFill>
            <a:prstDash val="solid"/>
            <a:round/>
            <a:headEnd len="med" w="med" type="none"/>
            <a:tailEnd len="med" w="med" type="none"/>
          </a:ln>
        </p:spPr>
      </p:cxnSp>
      <p:sp>
        <p:nvSpPr>
          <p:cNvPr id="155" name="Google Shape;155;p21"/>
          <p:cNvSpPr txBox="1"/>
          <p:nvPr/>
        </p:nvSpPr>
        <p:spPr>
          <a:xfrm>
            <a:off x="1007050" y="1617013"/>
            <a:ext cx="6276900" cy="540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90">
                <a:solidFill>
                  <a:schemeClr val="dk2"/>
                </a:solidFill>
                <a:latin typeface="Calibri"/>
                <a:ea typeface="Calibri"/>
                <a:cs typeface="Calibri"/>
                <a:sym typeface="Calibri"/>
              </a:rPr>
              <a:t>With leverage of $10 million, we would see a carry of $474,437.50</a:t>
            </a:r>
            <a:endParaRPr b="1" sz="1290">
              <a:solidFill>
                <a:schemeClr val="dk2"/>
              </a:solidFill>
              <a:latin typeface="Calibri"/>
              <a:ea typeface="Calibri"/>
              <a:cs typeface="Calibri"/>
              <a:sym typeface="Calibri"/>
            </a:endParaRPr>
          </a:p>
          <a:p>
            <a:pPr indent="0" lvl="0" marL="0" rtl="0" algn="l">
              <a:lnSpc>
                <a:spcPct val="100000"/>
              </a:lnSpc>
              <a:spcBef>
                <a:spcPts val="1200"/>
              </a:spcBef>
              <a:spcAft>
                <a:spcPts val="0"/>
              </a:spcAft>
              <a:buNone/>
            </a:pPr>
            <a:r>
              <a:rPr lang="en" sz="1290">
                <a:solidFill>
                  <a:schemeClr val="dk2"/>
                </a:solidFill>
                <a:latin typeface="Calibri"/>
                <a:ea typeface="Calibri"/>
                <a:cs typeface="Calibri"/>
                <a:sym typeface="Calibri"/>
              </a:rPr>
              <a:t>	Borrowing $100 in CHF would effectively yield 4.74% </a:t>
            </a:r>
            <a:r>
              <a:rPr b="1" lang="en" sz="1290">
                <a:solidFill>
                  <a:schemeClr val="dk2"/>
                </a:solidFill>
                <a:latin typeface="Calibri"/>
                <a:ea typeface="Calibri"/>
                <a:cs typeface="Calibri"/>
                <a:sym typeface="Calibri"/>
              </a:rPr>
              <a:t>*</a:t>
            </a:r>
            <a:endParaRPr b="1" sz="1290">
              <a:solidFill>
                <a:schemeClr val="dk2"/>
              </a:solidFill>
              <a:latin typeface="Calibri"/>
              <a:ea typeface="Calibri"/>
              <a:cs typeface="Calibri"/>
              <a:sym typeface="Calibri"/>
            </a:endParaRPr>
          </a:p>
          <a:p>
            <a:pPr indent="0" lvl="0" marL="0" rtl="0" algn="l">
              <a:lnSpc>
                <a:spcPct val="100000"/>
              </a:lnSpc>
              <a:spcBef>
                <a:spcPts val="1200"/>
              </a:spcBef>
              <a:spcAft>
                <a:spcPts val="0"/>
              </a:spcAft>
              <a:buNone/>
            </a:pPr>
            <a:r>
              <a:t/>
            </a:r>
            <a:endParaRPr sz="1800">
              <a:solidFill>
                <a:schemeClr val="dk2"/>
              </a:solidFill>
            </a:endParaRPr>
          </a:p>
        </p:txBody>
      </p:sp>
      <p:sp>
        <p:nvSpPr>
          <p:cNvPr id="156" name="Google Shape;156;p21"/>
          <p:cNvSpPr txBox="1"/>
          <p:nvPr/>
        </p:nvSpPr>
        <p:spPr>
          <a:xfrm>
            <a:off x="956200" y="983925"/>
            <a:ext cx="6276900" cy="447900"/>
          </a:xfrm>
          <a:prstGeom prst="rect">
            <a:avLst/>
          </a:prstGeom>
          <a:noFill/>
          <a:ln>
            <a:noFill/>
          </a:ln>
        </p:spPr>
        <p:txBody>
          <a:bodyPr anchorCtr="0" anchor="t" bIns="91425" lIns="91425" spcFirstLastPara="1" rIns="91425" wrap="square" tIns="91425">
            <a:spAutoFit/>
          </a:bodyPr>
          <a:lstStyle/>
          <a:p>
            <a:pPr indent="0" lvl="0" marL="457200" rtl="0" algn="ctr">
              <a:lnSpc>
                <a:spcPct val="95000"/>
              </a:lnSpc>
              <a:spcBef>
                <a:spcPts val="0"/>
              </a:spcBef>
              <a:spcAft>
                <a:spcPts val="1200"/>
              </a:spcAft>
              <a:buNone/>
            </a:pPr>
            <a:r>
              <a:t/>
            </a:r>
            <a:endParaRPr sz="1800">
              <a:solidFill>
                <a:schemeClr val="dk2"/>
              </a:solidFill>
            </a:endParaRPr>
          </a:p>
        </p:txBody>
      </p:sp>
      <p:sp>
        <p:nvSpPr>
          <p:cNvPr id="157" name="Google Shape;157;p21"/>
          <p:cNvSpPr/>
          <p:nvPr/>
        </p:nvSpPr>
        <p:spPr>
          <a:xfrm>
            <a:off x="994350" y="2507625"/>
            <a:ext cx="6531900" cy="5403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t/>
            </a:r>
            <a:endParaRPr sz="1800">
              <a:solidFill>
                <a:schemeClr val="dk1"/>
              </a:solidFill>
              <a:latin typeface="Calibri"/>
              <a:ea typeface="Calibri"/>
              <a:cs typeface="Calibri"/>
              <a:sym typeface="Calibri"/>
            </a:endParaRPr>
          </a:p>
        </p:txBody>
      </p:sp>
      <p:sp>
        <p:nvSpPr>
          <p:cNvPr id="158" name="Google Shape;158;p21"/>
          <p:cNvSpPr txBox="1"/>
          <p:nvPr/>
        </p:nvSpPr>
        <p:spPr>
          <a:xfrm>
            <a:off x="1007050" y="2512950"/>
            <a:ext cx="6442500" cy="4587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 sz="1290">
                <a:solidFill>
                  <a:schemeClr val="dk2"/>
                </a:solidFill>
                <a:latin typeface="Calibri"/>
                <a:ea typeface="Calibri"/>
                <a:cs typeface="Calibri"/>
                <a:sym typeface="Calibri"/>
              </a:rPr>
              <a:t>Assuming </a:t>
            </a:r>
            <a:r>
              <a:rPr lang="en" sz="1290">
                <a:solidFill>
                  <a:schemeClr val="dk2"/>
                </a:solidFill>
                <a:latin typeface="Calibri"/>
                <a:ea typeface="Calibri"/>
                <a:cs typeface="Calibri"/>
                <a:sym typeface="Calibri"/>
              </a:rPr>
              <a:t>more tariff shocks within the year like Liberation Day with the USD/CHF depreciat- ing to 0.78:</a:t>
            </a:r>
            <a:endParaRPr sz="1290">
              <a:solidFill>
                <a:schemeClr val="dk2"/>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
        <p:nvSpPr>
          <p:cNvPr id="159" name="Google Shape;159;p21"/>
          <p:cNvSpPr/>
          <p:nvPr/>
        </p:nvSpPr>
        <p:spPr>
          <a:xfrm>
            <a:off x="1076550" y="3130350"/>
            <a:ext cx="4799400" cy="743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5000"/>
              </a:lnSpc>
              <a:spcBef>
                <a:spcPts val="0"/>
              </a:spcBef>
              <a:spcAft>
                <a:spcPts val="1200"/>
              </a:spcAft>
              <a:buNone/>
            </a:pPr>
            <a:r>
              <a:t/>
            </a:r>
            <a:endParaRPr/>
          </a:p>
        </p:txBody>
      </p:sp>
      <p:sp>
        <p:nvSpPr>
          <p:cNvPr id="160" name="Google Shape;160;p21"/>
          <p:cNvSpPr txBox="1"/>
          <p:nvPr/>
        </p:nvSpPr>
        <p:spPr>
          <a:xfrm>
            <a:off x="219600" y="3108763"/>
            <a:ext cx="6276900" cy="540300"/>
          </a:xfrm>
          <a:prstGeom prst="rect">
            <a:avLst/>
          </a:prstGeom>
          <a:noFill/>
          <a:ln>
            <a:noFill/>
          </a:ln>
        </p:spPr>
        <p:txBody>
          <a:bodyPr anchorCtr="0" anchor="t" bIns="91425" lIns="91425" spcFirstLastPara="1" rIns="91425" wrap="square" tIns="91425">
            <a:noAutofit/>
          </a:bodyPr>
          <a:lstStyle/>
          <a:p>
            <a:pPr indent="0" lvl="0" marL="0" rtl="0" algn="ctr">
              <a:lnSpc>
                <a:spcPct val="95000"/>
              </a:lnSpc>
              <a:spcBef>
                <a:spcPts val="0"/>
              </a:spcBef>
              <a:spcAft>
                <a:spcPts val="0"/>
              </a:spcAft>
              <a:buNone/>
            </a:pPr>
            <a:r>
              <a:rPr b="1" lang="en" sz="1290">
                <a:solidFill>
                  <a:schemeClr val="dk2"/>
                </a:solidFill>
                <a:latin typeface="Calibri"/>
                <a:ea typeface="Calibri"/>
                <a:cs typeface="Calibri"/>
                <a:sym typeface="Calibri"/>
              </a:rPr>
              <a:t>With leverage of $10 million, we would see a carry of $86125.00</a:t>
            </a:r>
            <a:endParaRPr b="1" sz="1290">
              <a:solidFill>
                <a:schemeClr val="dk2"/>
              </a:solidFill>
              <a:latin typeface="Calibri"/>
              <a:ea typeface="Calibri"/>
              <a:cs typeface="Calibri"/>
              <a:sym typeface="Calibri"/>
            </a:endParaRPr>
          </a:p>
          <a:p>
            <a:pPr indent="0" lvl="0" marL="0" rtl="0" algn="ctr">
              <a:lnSpc>
                <a:spcPct val="95000"/>
              </a:lnSpc>
              <a:spcBef>
                <a:spcPts val="1200"/>
              </a:spcBef>
              <a:spcAft>
                <a:spcPts val="0"/>
              </a:spcAft>
              <a:buNone/>
            </a:pPr>
            <a:r>
              <a:rPr lang="en" sz="1290">
                <a:solidFill>
                  <a:schemeClr val="dk2"/>
                </a:solidFill>
                <a:latin typeface="Calibri"/>
                <a:ea typeface="Calibri"/>
                <a:cs typeface="Calibri"/>
                <a:sym typeface="Calibri"/>
              </a:rPr>
              <a:t>Borrowing $100 in CHF would effectively yield 0.86%</a:t>
            </a:r>
            <a:endParaRPr sz="1290">
              <a:solidFill>
                <a:schemeClr val="dk2"/>
              </a:solidFill>
              <a:latin typeface="Calibri"/>
              <a:ea typeface="Calibri"/>
              <a:cs typeface="Calibri"/>
              <a:sym typeface="Calibri"/>
            </a:endParaRPr>
          </a:p>
          <a:p>
            <a:pPr indent="0" lvl="0" marL="0" rtl="0" algn="l">
              <a:lnSpc>
                <a:spcPct val="100000"/>
              </a:lnSpc>
              <a:spcBef>
                <a:spcPts val="1200"/>
              </a:spcBef>
              <a:spcAft>
                <a:spcPts val="0"/>
              </a:spcAft>
              <a:buNone/>
            </a:pPr>
            <a:r>
              <a:t/>
            </a:r>
            <a:endParaRPr b="1" sz="1290">
              <a:solidFill>
                <a:schemeClr val="dk2"/>
              </a:solidFill>
              <a:latin typeface="Calibri"/>
              <a:ea typeface="Calibri"/>
              <a:cs typeface="Calibri"/>
              <a:sym typeface="Calibri"/>
            </a:endParaRPr>
          </a:p>
        </p:txBody>
      </p:sp>
      <p:sp>
        <p:nvSpPr>
          <p:cNvPr id="161" name="Google Shape;161;p21"/>
          <p:cNvSpPr/>
          <p:nvPr/>
        </p:nvSpPr>
        <p:spPr>
          <a:xfrm>
            <a:off x="994350" y="3956175"/>
            <a:ext cx="6531900" cy="5403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t/>
            </a:r>
            <a:endParaRPr sz="1800">
              <a:solidFill>
                <a:schemeClr val="dk1"/>
              </a:solidFill>
              <a:latin typeface="Calibri"/>
              <a:ea typeface="Calibri"/>
              <a:cs typeface="Calibri"/>
              <a:sym typeface="Calibri"/>
            </a:endParaRPr>
          </a:p>
        </p:txBody>
      </p:sp>
      <p:sp>
        <p:nvSpPr>
          <p:cNvPr id="162" name="Google Shape;162;p21"/>
          <p:cNvSpPr txBox="1"/>
          <p:nvPr/>
        </p:nvSpPr>
        <p:spPr>
          <a:xfrm>
            <a:off x="1039000" y="4040574"/>
            <a:ext cx="6276900" cy="447900"/>
          </a:xfrm>
          <a:prstGeom prst="rect">
            <a:avLst/>
          </a:prstGeom>
          <a:noFill/>
          <a:ln>
            <a:noFill/>
          </a:ln>
        </p:spPr>
        <p:txBody>
          <a:bodyPr anchorCtr="0" anchor="ctr" bIns="91425" lIns="91425" spcFirstLastPara="1" rIns="91425" wrap="square" tIns="91425">
            <a:noAutofit/>
          </a:bodyPr>
          <a:lstStyle/>
          <a:p>
            <a:pPr indent="0" lvl="0" marL="0" rtl="0" algn="ctr">
              <a:lnSpc>
                <a:spcPct val="95000"/>
              </a:lnSpc>
              <a:spcBef>
                <a:spcPts val="0"/>
              </a:spcBef>
              <a:spcAft>
                <a:spcPts val="0"/>
              </a:spcAft>
              <a:buNone/>
            </a:pPr>
            <a:r>
              <a:rPr lang="en" sz="1290">
                <a:solidFill>
                  <a:schemeClr val="dk2"/>
                </a:solidFill>
                <a:latin typeface="Calibri"/>
                <a:ea typeface="Calibri"/>
                <a:cs typeface="Calibri"/>
                <a:sym typeface="Calibri"/>
              </a:rPr>
              <a:t>	</a:t>
            </a:r>
            <a:endParaRPr sz="1290">
              <a:solidFill>
                <a:schemeClr val="dk2"/>
              </a:solidFill>
              <a:latin typeface="Calibri"/>
              <a:ea typeface="Calibri"/>
              <a:cs typeface="Calibri"/>
              <a:sym typeface="Calibri"/>
            </a:endParaRPr>
          </a:p>
          <a:p>
            <a:pPr indent="0" lvl="0" marL="0" rtl="0" algn="ctr">
              <a:lnSpc>
                <a:spcPct val="95000"/>
              </a:lnSpc>
              <a:spcBef>
                <a:spcPts val="1200"/>
              </a:spcBef>
              <a:spcAft>
                <a:spcPts val="0"/>
              </a:spcAft>
              <a:buNone/>
            </a:pPr>
            <a:r>
              <a:t/>
            </a:r>
            <a:endParaRPr sz="1290">
              <a:solidFill>
                <a:schemeClr val="dk2"/>
              </a:solidFill>
              <a:latin typeface="Calibri"/>
              <a:ea typeface="Calibri"/>
              <a:cs typeface="Calibri"/>
              <a:sym typeface="Calibri"/>
            </a:endParaRPr>
          </a:p>
          <a:p>
            <a:pPr indent="0" lvl="0" marL="0" rtl="0" algn="l">
              <a:lnSpc>
                <a:spcPct val="95000"/>
              </a:lnSpc>
              <a:spcBef>
                <a:spcPts val="1200"/>
              </a:spcBef>
              <a:spcAft>
                <a:spcPts val="0"/>
              </a:spcAft>
              <a:buNone/>
            </a:pPr>
            <a:r>
              <a:rPr lang="en" sz="1290">
                <a:solidFill>
                  <a:schemeClr val="dk2"/>
                </a:solidFill>
                <a:latin typeface="Calibri"/>
                <a:ea typeface="Calibri"/>
                <a:cs typeface="Calibri"/>
                <a:sym typeface="Calibri"/>
              </a:rPr>
              <a:t>While the trade has no upfront investment, it is wise to have at least $300,000 on hand to absorb Black Swan losses. </a:t>
            </a:r>
            <a:endParaRPr sz="1290">
              <a:solidFill>
                <a:schemeClr val="dk2"/>
              </a:solidFill>
              <a:latin typeface="Calibri"/>
              <a:ea typeface="Calibri"/>
              <a:cs typeface="Calibri"/>
              <a:sym typeface="Calibri"/>
            </a:endParaRPr>
          </a:p>
          <a:p>
            <a:pPr indent="0" lvl="0" marL="0" rtl="0" algn="ctr">
              <a:lnSpc>
                <a:spcPct val="95000"/>
              </a:lnSpc>
              <a:spcBef>
                <a:spcPts val="1200"/>
              </a:spcBef>
              <a:spcAft>
                <a:spcPts val="0"/>
              </a:spcAft>
              <a:buNone/>
            </a:pPr>
            <a:r>
              <a:t/>
            </a:r>
            <a:endParaRPr sz="1290">
              <a:solidFill>
                <a:schemeClr val="dk2"/>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
        <p:nvSpPr>
          <p:cNvPr id="163" name="Google Shape;163;p21"/>
          <p:cNvSpPr/>
          <p:nvPr/>
        </p:nvSpPr>
        <p:spPr>
          <a:xfrm>
            <a:off x="1076550" y="4578900"/>
            <a:ext cx="4799400" cy="458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5000"/>
              </a:lnSpc>
              <a:spcBef>
                <a:spcPts val="0"/>
              </a:spcBef>
              <a:spcAft>
                <a:spcPts val="1200"/>
              </a:spcAft>
              <a:buNone/>
            </a:pPr>
            <a:r>
              <a:t/>
            </a:r>
            <a:endParaRPr/>
          </a:p>
        </p:txBody>
      </p:sp>
      <p:sp>
        <p:nvSpPr>
          <p:cNvPr id="164" name="Google Shape;164;p21"/>
          <p:cNvSpPr txBox="1"/>
          <p:nvPr/>
        </p:nvSpPr>
        <p:spPr>
          <a:xfrm>
            <a:off x="1776250" y="4655300"/>
            <a:ext cx="46368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65" name="Google Shape;165;p21"/>
          <p:cNvSpPr txBox="1"/>
          <p:nvPr/>
        </p:nvSpPr>
        <p:spPr>
          <a:xfrm>
            <a:off x="1007050" y="4578888"/>
            <a:ext cx="6276900" cy="540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 sz="1290">
                <a:solidFill>
                  <a:schemeClr val="dk2"/>
                </a:solidFill>
                <a:latin typeface="Calibri"/>
                <a:ea typeface="Calibri"/>
                <a:cs typeface="Calibri"/>
                <a:sym typeface="Calibri"/>
              </a:rPr>
              <a:t>Using this level of cash on hand, we calculate a </a:t>
            </a:r>
            <a:r>
              <a:rPr b="1" lang="en" sz="1290">
                <a:solidFill>
                  <a:schemeClr val="dk2"/>
                </a:solidFill>
                <a:latin typeface="Calibri"/>
                <a:ea typeface="Calibri"/>
                <a:cs typeface="Calibri"/>
                <a:sym typeface="Calibri"/>
              </a:rPr>
              <a:t>Sharpe Ratio</a:t>
            </a:r>
            <a:r>
              <a:rPr lang="en" sz="1290">
                <a:solidFill>
                  <a:schemeClr val="dk2"/>
                </a:solidFill>
                <a:latin typeface="Calibri"/>
                <a:ea typeface="Calibri"/>
                <a:cs typeface="Calibri"/>
                <a:sym typeface="Calibri"/>
              </a:rPr>
              <a:t> of </a:t>
            </a:r>
            <a:r>
              <a:rPr b="1" lang="en" sz="1290">
                <a:solidFill>
                  <a:schemeClr val="dk2"/>
                </a:solidFill>
                <a:latin typeface="Calibri"/>
                <a:ea typeface="Calibri"/>
                <a:cs typeface="Calibri"/>
                <a:sym typeface="Calibri"/>
              </a:rPr>
              <a:t>964 </a:t>
            </a:r>
            <a:endParaRPr b="1" sz="1290">
              <a:solidFill>
                <a:schemeClr val="dk2"/>
              </a:solidFill>
              <a:latin typeface="Calibri"/>
              <a:ea typeface="Calibri"/>
              <a:cs typeface="Calibri"/>
              <a:sym typeface="Calibri"/>
            </a:endParaRPr>
          </a:p>
          <a:p>
            <a:pPr indent="0" lvl="0" marL="0" rtl="0" algn="l">
              <a:lnSpc>
                <a:spcPct val="100000"/>
              </a:lnSpc>
              <a:spcBef>
                <a:spcPts val="1200"/>
              </a:spcBef>
              <a:spcAft>
                <a:spcPts val="0"/>
              </a:spcAft>
              <a:buNone/>
            </a:pPr>
            <a:r>
              <a:t/>
            </a:r>
            <a:endParaRPr b="1" sz="1290">
              <a:solidFill>
                <a:schemeClr val="dk2"/>
              </a:solidFill>
              <a:latin typeface="Calibri"/>
              <a:ea typeface="Calibri"/>
              <a:cs typeface="Calibri"/>
              <a:sym typeface="Calibri"/>
            </a:endParaRPr>
          </a:p>
        </p:txBody>
      </p:sp>
      <p:sp>
        <p:nvSpPr>
          <p:cNvPr id="166" name="Google Shape;166;p21"/>
          <p:cNvSpPr/>
          <p:nvPr/>
        </p:nvSpPr>
        <p:spPr>
          <a:xfrm>
            <a:off x="5952225" y="1695425"/>
            <a:ext cx="3147000" cy="62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5000"/>
              </a:lnSpc>
              <a:spcBef>
                <a:spcPts val="0"/>
              </a:spcBef>
              <a:spcAft>
                <a:spcPts val="1200"/>
              </a:spcAft>
              <a:buNone/>
            </a:pPr>
            <a:r>
              <a:t/>
            </a:r>
            <a:endParaRPr/>
          </a:p>
        </p:txBody>
      </p:sp>
      <p:sp>
        <p:nvSpPr>
          <p:cNvPr id="167" name="Google Shape;167;p21"/>
          <p:cNvSpPr txBox="1"/>
          <p:nvPr/>
        </p:nvSpPr>
        <p:spPr>
          <a:xfrm>
            <a:off x="5918025" y="1617024"/>
            <a:ext cx="3215400" cy="561900"/>
          </a:xfrm>
          <a:prstGeom prst="rect">
            <a:avLst/>
          </a:prstGeom>
          <a:noFill/>
          <a:ln>
            <a:noFill/>
          </a:ln>
        </p:spPr>
        <p:txBody>
          <a:bodyPr anchorCtr="0" anchor="ctr" bIns="91425" lIns="91425" spcFirstLastPara="1" rIns="91425" wrap="square" tIns="91425">
            <a:noAutofit/>
          </a:bodyPr>
          <a:lstStyle/>
          <a:p>
            <a:pPr indent="0" lvl="0" marL="0" rtl="0" algn="l">
              <a:lnSpc>
                <a:spcPct val="95000"/>
              </a:lnSpc>
              <a:spcBef>
                <a:spcPts val="0"/>
              </a:spcBef>
              <a:spcAft>
                <a:spcPts val="0"/>
              </a:spcAft>
              <a:buNone/>
            </a:pPr>
            <a:r>
              <a:t/>
            </a:r>
            <a:endParaRPr sz="1190">
              <a:solidFill>
                <a:schemeClr val="dk2"/>
              </a:solidFill>
              <a:latin typeface="Calibri"/>
              <a:ea typeface="Calibri"/>
              <a:cs typeface="Calibri"/>
              <a:sym typeface="Calibri"/>
            </a:endParaRPr>
          </a:p>
          <a:p>
            <a:pPr indent="0" lvl="0" marL="0" rtl="0" algn="l">
              <a:lnSpc>
                <a:spcPct val="95000"/>
              </a:lnSpc>
              <a:spcBef>
                <a:spcPts val="1200"/>
              </a:spcBef>
              <a:spcAft>
                <a:spcPts val="0"/>
              </a:spcAft>
              <a:buNone/>
            </a:pPr>
            <a:r>
              <a:t/>
            </a:r>
            <a:endParaRPr sz="1190">
              <a:solidFill>
                <a:schemeClr val="dk2"/>
              </a:solidFill>
              <a:latin typeface="Calibri"/>
              <a:ea typeface="Calibri"/>
              <a:cs typeface="Calibri"/>
              <a:sym typeface="Calibri"/>
            </a:endParaRPr>
          </a:p>
          <a:p>
            <a:pPr indent="0" lvl="0" marL="0" rtl="0" algn="l">
              <a:lnSpc>
                <a:spcPct val="95000"/>
              </a:lnSpc>
              <a:spcBef>
                <a:spcPts val="1200"/>
              </a:spcBef>
              <a:spcAft>
                <a:spcPts val="0"/>
              </a:spcAft>
              <a:buNone/>
            </a:pPr>
            <a:r>
              <a:rPr lang="en" sz="1190">
                <a:solidFill>
                  <a:schemeClr val="dk2"/>
                </a:solidFill>
                <a:latin typeface="Calibri"/>
                <a:ea typeface="Calibri"/>
                <a:cs typeface="Calibri"/>
                <a:sym typeface="Calibri"/>
              </a:rPr>
              <a:t>* The calculation ignores the cost of rolling Swiss debt and compounding due to different payment profiles.</a:t>
            </a:r>
            <a:endParaRPr b="1" sz="1190">
              <a:solidFill>
                <a:schemeClr val="dk2"/>
              </a:solidFill>
              <a:latin typeface="Calibri"/>
              <a:ea typeface="Calibri"/>
              <a:cs typeface="Calibri"/>
              <a:sym typeface="Calibri"/>
            </a:endParaRPr>
          </a:p>
          <a:p>
            <a:pPr indent="0" lvl="0" marL="0" rtl="0" algn="l">
              <a:lnSpc>
                <a:spcPct val="100000"/>
              </a:lnSpc>
              <a:spcBef>
                <a:spcPts val="1200"/>
              </a:spcBef>
              <a:spcAft>
                <a:spcPts val="0"/>
              </a:spcAft>
              <a:buNone/>
            </a:pPr>
            <a:r>
              <a:t/>
            </a:r>
            <a:endParaRPr sz="1800">
              <a:solidFill>
                <a:schemeClr val="dk2"/>
              </a:solidFill>
            </a:endParaRPr>
          </a:p>
        </p:txBody>
      </p:sp>
      <p:sp>
        <p:nvSpPr>
          <p:cNvPr id="168" name="Google Shape;168;p21"/>
          <p:cNvSpPr txBox="1"/>
          <p:nvPr/>
        </p:nvSpPr>
        <p:spPr>
          <a:xfrm>
            <a:off x="1007050" y="1006575"/>
            <a:ext cx="6340800" cy="4479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 sz="1290">
                <a:solidFill>
                  <a:schemeClr val="dk2"/>
                </a:solidFill>
                <a:latin typeface="Calibri"/>
                <a:ea typeface="Calibri"/>
                <a:cs typeface="Calibri"/>
                <a:sym typeface="Calibri"/>
              </a:rPr>
              <a:t>Assuming all the bonds are bought at par and the USD/CHF appreciates positively to 0.81:</a:t>
            </a:r>
            <a:endParaRPr sz="1800">
              <a:solidFill>
                <a:schemeClr val="dk2"/>
              </a:solidFill>
            </a:endParaRPr>
          </a:p>
          <a:p>
            <a:pPr indent="0" lvl="0" marL="0" rtl="0" algn="ctr">
              <a:lnSpc>
                <a:spcPct val="95000"/>
              </a:lnSpc>
              <a:spcBef>
                <a:spcPts val="1200"/>
              </a:spcBef>
              <a:spcAft>
                <a:spcPts val="0"/>
              </a:spcAft>
              <a:buClr>
                <a:schemeClr val="dk1"/>
              </a:buClr>
              <a:buSzPts val="1100"/>
              <a:buFont typeface="Arial"/>
              <a:buNone/>
            </a:pPr>
            <a:r>
              <a:t/>
            </a:r>
            <a:endParaRPr sz="1290">
              <a:solidFill>
                <a:schemeClr val="dk2"/>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2"/>
          <p:cNvSpPr/>
          <p:nvPr/>
        </p:nvSpPr>
        <p:spPr>
          <a:xfrm>
            <a:off x="166750" y="1975475"/>
            <a:ext cx="3294900" cy="2696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510">
                <a:solidFill>
                  <a:schemeClr val="dk1"/>
                </a:solidFill>
                <a:latin typeface="Calibri"/>
                <a:ea typeface="Calibri"/>
                <a:cs typeface="Calibri"/>
                <a:sym typeface="Calibri"/>
              </a:rPr>
              <a:t>Total Predictions: 30</a:t>
            </a:r>
            <a:endParaRPr sz="1510">
              <a:solidFill>
                <a:schemeClr val="dk1"/>
              </a:solidFill>
              <a:latin typeface="Calibri"/>
              <a:ea typeface="Calibri"/>
              <a:cs typeface="Calibri"/>
              <a:sym typeface="Calibri"/>
            </a:endParaRPr>
          </a:p>
          <a:p>
            <a:pPr indent="0" lvl="0" marL="0" rtl="0" algn="ctr">
              <a:lnSpc>
                <a:spcPct val="115000"/>
              </a:lnSpc>
              <a:spcBef>
                <a:spcPts val="1200"/>
              </a:spcBef>
              <a:spcAft>
                <a:spcPts val="0"/>
              </a:spcAft>
              <a:buClr>
                <a:schemeClr val="dk1"/>
              </a:buClr>
              <a:buSzPts val="1100"/>
              <a:buFont typeface="Arial"/>
              <a:buNone/>
            </a:pPr>
            <a:r>
              <a:rPr lang="en" sz="1510">
                <a:solidFill>
                  <a:schemeClr val="dk1"/>
                </a:solidFill>
                <a:latin typeface="Calibri"/>
                <a:ea typeface="Calibri"/>
                <a:cs typeface="Calibri"/>
                <a:sym typeface="Calibri"/>
              </a:rPr>
              <a:t>Predictions in Range (0.78-0.83): 19</a:t>
            </a:r>
            <a:endParaRPr sz="1510">
              <a:solidFill>
                <a:schemeClr val="dk1"/>
              </a:solidFill>
              <a:latin typeface="Calibri"/>
              <a:ea typeface="Calibri"/>
              <a:cs typeface="Calibri"/>
              <a:sym typeface="Calibri"/>
            </a:endParaRPr>
          </a:p>
          <a:p>
            <a:pPr indent="0" lvl="0" marL="0" rtl="0" algn="ctr">
              <a:lnSpc>
                <a:spcPct val="115000"/>
              </a:lnSpc>
              <a:spcBef>
                <a:spcPts val="1200"/>
              </a:spcBef>
              <a:spcAft>
                <a:spcPts val="0"/>
              </a:spcAft>
              <a:buClr>
                <a:schemeClr val="dk1"/>
              </a:buClr>
              <a:buSzPts val="1100"/>
              <a:buFont typeface="Arial"/>
              <a:buNone/>
            </a:pPr>
            <a:r>
              <a:rPr lang="en" sz="1510">
                <a:solidFill>
                  <a:schemeClr val="dk1"/>
                </a:solidFill>
                <a:latin typeface="Calibri"/>
                <a:ea typeface="Calibri"/>
                <a:cs typeface="Calibri"/>
                <a:sym typeface="Calibri"/>
              </a:rPr>
              <a:t>Predictions in Range (0.75-0.77): 11</a:t>
            </a:r>
            <a:endParaRPr sz="1510">
              <a:solidFill>
                <a:schemeClr val="dk1"/>
              </a:solidFill>
              <a:latin typeface="Calibri"/>
              <a:ea typeface="Calibri"/>
              <a:cs typeface="Calibri"/>
              <a:sym typeface="Calibri"/>
            </a:endParaRPr>
          </a:p>
          <a:p>
            <a:pPr indent="0" lvl="0" marL="0" rtl="0" algn="ctr">
              <a:lnSpc>
                <a:spcPct val="115000"/>
              </a:lnSpc>
              <a:spcBef>
                <a:spcPts val="1200"/>
              </a:spcBef>
              <a:spcAft>
                <a:spcPts val="0"/>
              </a:spcAft>
              <a:buClr>
                <a:schemeClr val="dk1"/>
              </a:buClr>
              <a:buSzPts val="1100"/>
              <a:buFont typeface="Arial"/>
              <a:buNone/>
            </a:pPr>
            <a:r>
              <a:rPr lang="en" sz="1510">
                <a:solidFill>
                  <a:schemeClr val="dk1"/>
                </a:solidFill>
                <a:latin typeface="Calibri"/>
                <a:ea typeface="Calibri"/>
                <a:cs typeface="Calibri"/>
                <a:sym typeface="Calibri"/>
              </a:rPr>
              <a:t>EV[Trade] = (19/30)*4.7+(11/30)*0.86</a:t>
            </a:r>
            <a:endParaRPr sz="1510">
              <a:solidFill>
                <a:schemeClr val="dk1"/>
              </a:solidFill>
              <a:latin typeface="Calibri"/>
              <a:ea typeface="Calibri"/>
              <a:cs typeface="Calibri"/>
              <a:sym typeface="Calibri"/>
            </a:endParaRPr>
          </a:p>
          <a:p>
            <a:pPr indent="0" lvl="0" marL="0" rtl="0" algn="ctr">
              <a:lnSpc>
                <a:spcPct val="115000"/>
              </a:lnSpc>
              <a:spcBef>
                <a:spcPts val="1200"/>
              </a:spcBef>
              <a:spcAft>
                <a:spcPts val="1200"/>
              </a:spcAft>
              <a:buClr>
                <a:schemeClr val="dk1"/>
              </a:buClr>
              <a:buSzPts val="1100"/>
              <a:buFont typeface="Arial"/>
              <a:buNone/>
            </a:pPr>
            <a:r>
              <a:rPr lang="en" sz="1510">
                <a:solidFill>
                  <a:schemeClr val="dk1"/>
                </a:solidFill>
                <a:latin typeface="Calibri"/>
                <a:ea typeface="Calibri"/>
                <a:cs typeface="Calibri"/>
                <a:sym typeface="Calibri"/>
              </a:rPr>
              <a:t>EV[Trade] = $329,200</a:t>
            </a:r>
            <a:endParaRPr sz="1600">
              <a:solidFill>
                <a:schemeClr val="dk1"/>
              </a:solidFill>
            </a:endParaRPr>
          </a:p>
        </p:txBody>
      </p:sp>
      <p:sp>
        <p:nvSpPr>
          <p:cNvPr id="174" name="Google Shape;174;p22"/>
          <p:cNvSpPr/>
          <p:nvPr/>
        </p:nvSpPr>
        <p:spPr>
          <a:xfrm>
            <a:off x="3907472" y="1975475"/>
            <a:ext cx="4968300" cy="2696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75" name="Google Shape;175;p22"/>
          <p:cNvGrpSpPr/>
          <p:nvPr/>
        </p:nvGrpSpPr>
        <p:grpSpPr>
          <a:xfrm>
            <a:off x="4449950" y="2041025"/>
            <a:ext cx="3998100" cy="2301705"/>
            <a:chOff x="4428200" y="1899650"/>
            <a:chExt cx="3998100" cy="2301705"/>
          </a:xfrm>
        </p:grpSpPr>
        <p:pic>
          <p:nvPicPr>
            <p:cNvPr id="176" name="Google Shape;176;p22"/>
            <p:cNvPicPr preferRelativeResize="0"/>
            <p:nvPr/>
          </p:nvPicPr>
          <p:blipFill>
            <a:blip r:embed="rId3">
              <a:alphaModFix/>
            </a:blip>
            <a:stretch>
              <a:fillRect/>
            </a:stretch>
          </p:blipFill>
          <p:spPr>
            <a:xfrm>
              <a:off x="4428200" y="2472350"/>
              <a:ext cx="3998100" cy="1729005"/>
            </a:xfrm>
            <a:prstGeom prst="rect">
              <a:avLst/>
            </a:prstGeom>
            <a:noFill/>
            <a:ln>
              <a:noFill/>
            </a:ln>
          </p:spPr>
        </p:pic>
        <p:sp>
          <p:nvSpPr>
            <p:cNvPr id="177" name="Google Shape;177;p22"/>
            <p:cNvSpPr txBox="1"/>
            <p:nvPr/>
          </p:nvSpPr>
          <p:spPr>
            <a:xfrm>
              <a:off x="4428200" y="1899650"/>
              <a:ext cx="39981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t>Distribution of Analysts’ Expectations for the USD/CHF in Late 2026</a:t>
              </a:r>
              <a:endParaRPr b="1" sz="1600"/>
            </a:p>
          </p:txBody>
        </p:sp>
      </p:grpSp>
      <p:sp>
        <p:nvSpPr>
          <p:cNvPr id="178" name="Google Shape;178;p22"/>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Expected Value Analysis</a:t>
            </a:r>
            <a:endParaRPr i="1" sz="4000">
              <a:latin typeface="Calibri"/>
              <a:ea typeface="Calibri"/>
              <a:cs typeface="Calibri"/>
              <a:sym typeface="Calibri"/>
            </a:endParaRPr>
          </a:p>
        </p:txBody>
      </p:sp>
      <p:cxnSp>
        <p:nvCxnSpPr>
          <p:cNvPr id="179" name="Google Shape;179;p22"/>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sp>
        <p:nvSpPr>
          <p:cNvPr id="180" name="Google Shape;180;p22"/>
          <p:cNvSpPr/>
          <p:nvPr/>
        </p:nvSpPr>
        <p:spPr>
          <a:xfrm>
            <a:off x="166750" y="996800"/>
            <a:ext cx="8709000" cy="8661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t/>
            </a:r>
            <a:endParaRPr>
              <a:solidFill>
                <a:schemeClr val="dk1"/>
              </a:solidFill>
            </a:endParaRPr>
          </a:p>
        </p:txBody>
      </p:sp>
      <p:sp>
        <p:nvSpPr>
          <p:cNvPr id="181" name="Google Shape;181;p22"/>
          <p:cNvSpPr txBox="1"/>
          <p:nvPr/>
        </p:nvSpPr>
        <p:spPr>
          <a:xfrm>
            <a:off x="260850" y="1055825"/>
            <a:ext cx="8520600" cy="1182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Expected Value: We used a basic Binomial model and discarded outliers greater than an exchange rate of 0.84, making our estimate more conservative.</a:t>
            </a:r>
            <a:endParaRPr>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3"/>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Execution Timing &amp; </a:t>
            </a:r>
            <a:r>
              <a:rPr i="1" lang="en" sz="4000">
                <a:latin typeface="Calibri"/>
                <a:ea typeface="Calibri"/>
                <a:cs typeface="Calibri"/>
                <a:sym typeface="Calibri"/>
              </a:rPr>
              <a:t>Strategy</a:t>
            </a:r>
            <a:endParaRPr i="1" sz="4000">
              <a:latin typeface="Calibri"/>
              <a:ea typeface="Calibri"/>
              <a:cs typeface="Calibri"/>
              <a:sym typeface="Calibri"/>
            </a:endParaRPr>
          </a:p>
        </p:txBody>
      </p:sp>
      <p:cxnSp>
        <p:nvCxnSpPr>
          <p:cNvPr id="187" name="Google Shape;187;p23"/>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grpSp>
        <p:nvGrpSpPr>
          <p:cNvPr id="188" name="Google Shape;188;p23"/>
          <p:cNvGrpSpPr/>
          <p:nvPr/>
        </p:nvGrpSpPr>
        <p:grpSpPr>
          <a:xfrm>
            <a:off x="186989" y="1006721"/>
            <a:ext cx="2306469" cy="963914"/>
            <a:chOff x="1083025" y="2306625"/>
            <a:chExt cx="1834900" cy="963914"/>
          </a:xfrm>
        </p:grpSpPr>
        <p:sp>
          <p:nvSpPr>
            <p:cNvPr id="189" name="Google Shape;189;p23"/>
            <p:cNvSpPr txBox="1"/>
            <p:nvPr/>
          </p:nvSpPr>
          <p:spPr>
            <a:xfrm>
              <a:off x="1235818" y="2501339"/>
              <a:ext cx="1505100" cy="7692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3D85C6"/>
                  </a:solidFill>
                  <a:latin typeface="Calibri"/>
                  <a:ea typeface="Calibri"/>
                  <a:cs typeface="Calibri"/>
                  <a:sym typeface="Calibri"/>
                </a:rPr>
                <a:t>Borrow CHF denominated Loans</a:t>
              </a:r>
              <a:endParaRPr b="1">
                <a:solidFill>
                  <a:srgbClr val="3D85C6"/>
                </a:solidFill>
                <a:latin typeface="Calibri"/>
                <a:ea typeface="Calibri"/>
                <a:cs typeface="Calibri"/>
                <a:sym typeface="Calibri"/>
              </a:endParaRPr>
            </a:p>
          </p:txBody>
        </p:sp>
        <p:sp>
          <p:nvSpPr>
            <p:cNvPr id="190" name="Google Shape;190;p23"/>
            <p:cNvSpPr/>
            <p:nvPr/>
          </p:nvSpPr>
          <p:spPr>
            <a:xfrm flipH="1">
              <a:off x="1083025" y="2306625"/>
              <a:ext cx="1834800" cy="143400"/>
            </a:xfrm>
            <a:prstGeom prst="parallelogram">
              <a:avLst>
                <a:gd fmla="val 96952" name="adj"/>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91" name="Google Shape;191;p23"/>
            <p:cNvSpPr/>
            <p:nvPr/>
          </p:nvSpPr>
          <p:spPr>
            <a:xfrm>
              <a:off x="1083125" y="2460449"/>
              <a:ext cx="1834800" cy="143400"/>
            </a:xfrm>
            <a:prstGeom prst="parallelogram">
              <a:avLst>
                <a:gd fmla="val 96952" name="adj"/>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23"/>
          <p:cNvGrpSpPr/>
          <p:nvPr/>
        </p:nvGrpSpPr>
        <p:grpSpPr>
          <a:xfrm>
            <a:off x="4527254" y="1006721"/>
            <a:ext cx="2306469" cy="1187095"/>
            <a:chOff x="1083025" y="2306625"/>
            <a:chExt cx="1834900" cy="1187095"/>
          </a:xfrm>
        </p:grpSpPr>
        <p:sp>
          <p:nvSpPr>
            <p:cNvPr id="193" name="Google Shape;193;p23"/>
            <p:cNvSpPr txBox="1"/>
            <p:nvPr/>
          </p:nvSpPr>
          <p:spPr>
            <a:xfrm>
              <a:off x="1235825" y="3047320"/>
              <a:ext cx="15051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3D85C6"/>
                  </a:solidFill>
                  <a:latin typeface="Calibri"/>
                  <a:ea typeface="Calibri"/>
                  <a:cs typeface="Calibri"/>
                  <a:sym typeface="Calibri"/>
                </a:rPr>
                <a:t>Purchase 1Y US Treasury and </a:t>
              </a:r>
              <a:r>
                <a:rPr b="1" lang="en">
                  <a:solidFill>
                    <a:srgbClr val="3D85C6"/>
                  </a:solidFill>
                  <a:latin typeface="Calibri"/>
                  <a:ea typeface="Calibri"/>
                  <a:cs typeface="Calibri"/>
                  <a:sym typeface="Calibri"/>
                </a:rPr>
                <a:t>Receive</a:t>
              </a:r>
              <a:r>
                <a:rPr b="1" lang="en">
                  <a:solidFill>
                    <a:srgbClr val="3D85C6"/>
                  </a:solidFill>
                  <a:latin typeface="Calibri"/>
                  <a:ea typeface="Calibri"/>
                  <a:cs typeface="Calibri"/>
                  <a:sym typeface="Calibri"/>
                </a:rPr>
                <a:t> Semi-Annual Yield</a:t>
              </a:r>
              <a:endParaRPr b="1">
                <a:solidFill>
                  <a:srgbClr val="3D85C6"/>
                </a:solidFill>
                <a:latin typeface="Calibri"/>
                <a:ea typeface="Calibri"/>
                <a:cs typeface="Calibri"/>
                <a:sym typeface="Calibri"/>
              </a:endParaRPr>
            </a:p>
          </p:txBody>
        </p:sp>
        <p:sp>
          <p:nvSpPr>
            <p:cNvPr id="194" name="Google Shape;194;p23"/>
            <p:cNvSpPr/>
            <p:nvPr/>
          </p:nvSpPr>
          <p:spPr>
            <a:xfrm flipH="1">
              <a:off x="1083025" y="2306625"/>
              <a:ext cx="1834800" cy="143400"/>
            </a:xfrm>
            <a:prstGeom prst="parallelogram">
              <a:avLst>
                <a:gd fmla="val 96952" name="adj"/>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95" name="Google Shape;195;p23"/>
            <p:cNvSpPr/>
            <p:nvPr/>
          </p:nvSpPr>
          <p:spPr>
            <a:xfrm>
              <a:off x="1083125" y="2460449"/>
              <a:ext cx="1834800" cy="143400"/>
            </a:xfrm>
            <a:prstGeom prst="parallelogram">
              <a:avLst>
                <a:gd fmla="val 96952" name="adj"/>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 name="Google Shape;196;p23"/>
          <p:cNvGrpSpPr/>
          <p:nvPr/>
        </p:nvGrpSpPr>
        <p:grpSpPr>
          <a:xfrm>
            <a:off x="2360235" y="1006010"/>
            <a:ext cx="2306469" cy="717368"/>
            <a:chOff x="1083025" y="2306625"/>
            <a:chExt cx="1834900" cy="717368"/>
          </a:xfrm>
        </p:grpSpPr>
        <p:sp>
          <p:nvSpPr>
            <p:cNvPr id="197" name="Google Shape;197;p23"/>
            <p:cNvSpPr txBox="1"/>
            <p:nvPr/>
          </p:nvSpPr>
          <p:spPr>
            <a:xfrm>
              <a:off x="1235825" y="2577593"/>
              <a:ext cx="15051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858585"/>
                  </a:solidFill>
                  <a:latin typeface="Calibri"/>
                  <a:ea typeface="Calibri"/>
                  <a:cs typeface="Calibri"/>
                  <a:sym typeface="Calibri"/>
                </a:rPr>
                <a:t>Swap CHF for USD</a:t>
              </a:r>
              <a:endParaRPr b="1">
                <a:solidFill>
                  <a:srgbClr val="858585"/>
                </a:solidFill>
                <a:latin typeface="Calibri"/>
                <a:ea typeface="Calibri"/>
                <a:cs typeface="Calibri"/>
                <a:sym typeface="Calibri"/>
              </a:endParaRPr>
            </a:p>
          </p:txBody>
        </p:sp>
        <p:sp>
          <p:nvSpPr>
            <p:cNvPr id="198" name="Google Shape;198;p23"/>
            <p:cNvSpPr/>
            <p:nvPr/>
          </p:nvSpPr>
          <p:spPr>
            <a:xfrm flipH="1">
              <a:off x="1083025" y="2306625"/>
              <a:ext cx="18348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99" name="Google Shape;199;p23"/>
            <p:cNvSpPr/>
            <p:nvPr/>
          </p:nvSpPr>
          <p:spPr>
            <a:xfrm>
              <a:off x="1083125" y="2460449"/>
              <a:ext cx="18348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23"/>
          <p:cNvGrpSpPr/>
          <p:nvPr/>
        </p:nvGrpSpPr>
        <p:grpSpPr>
          <a:xfrm>
            <a:off x="6640684" y="1005999"/>
            <a:ext cx="2306469" cy="700071"/>
            <a:chOff x="1083025" y="2306625"/>
            <a:chExt cx="1834900" cy="700071"/>
          </a:xfrm>
        </p:grpSpPr>
        <p:sp>
          <p:nvSpPr>
            <p:cNvPr id="201" name="Google Shape;201;p23"/>
            <p:cNvSpPr txBox="1"/>
            <p:nvPr/>
          </p:nvSpPr>
          <p:spPr>
            <a:xfrm>
              <a:off x="1235825" y="2560296"/>
              <a:ext cx="15051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858585"/>
                  </a:solidFill>
                  <a:latin typeface="Calibri"/>
                  <a:ea typeface="Calibri"/>
                  <a:cs typeface="Calibri"/>
                  <a:sym typeface="Calibri"/>
                </a:rPr>
                <a:t>Roll 6M Swiss Debt</a:t>
              </a:r>
              <a:endParaRPr b="1">
                <a:solidFill>
                  <a:srgbClr val="858585"/>
                </a:solidFill>
                <a:latin typeface="Calibri"/>
                <a:ea typeface="Calibri"/>
                <a:cs typeface="Calibri"/>
                <a:sym typeface="Calibri"/>
              </a:endParaRPr>
            </a:p>
          </p:txBody>
        </p:sp>
        <p:sp>
          <p:nvSpPr>
            <p:cNvPr id="202" name="Google Shape;202;p23"/>
            <p:cNvSpPr/>
            <p:nvPr/>
          </p:nvSpPr>
          <p:spPr>
            <a:xfrm flipH="1">
              <a:off x="1083025" y="2306625"/>
              <a:ext cx="18348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03" name="Google Shape;203;p23"/>
            <p:cNvSpPr/>
            <p:nvPr/>
          </p:nvSpPr>
          <p:spPr>
            <a:xfrm>
              <a:off x="1083125" y="2460449"/>
              <a:ext cx="18348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 name="Google Shape;204;p23"/>
          <p:cNvSpPr/>
          <p:nvPr/>
        </p:nvSpPr>
        <p:spPr>
          <a:xfrm>
            <a:off x="348300" y="2300118"/>
            <a:ext cx="8520600" cy="3831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Calibri"/>
                <a:ea typeface="Calibri"/>
                <a:cs typeface="Calibri"/>
                <a:sym typeface="Calibri"/>
              </a:rPr>
              <a:t>Exit Profile</a:t>
            </a:r>
            <a:endParaRPr b="1" sz="1700">
              <a:latin typeface="Calibri"/>
              <a:ea typeface="Calibri"/>
              <a:cs typeface="Calibri"/>
              <a:sym typeface="Calibri"/>
            </a:endParaRPr>
          </a:p>
        </p:txBody>
      </p:sp>
      <p:sp>
        <p:nvSpPr>
          <p:cNvPr id="205" name="Google Shape;205;p23"/>
          <p:cNvSpPr/>
          <p:nvPr/>
        </p:nvSpPr>
        <p:spPr>
          <a:xfrm>
            <a:off x="348300" y="2856450"/>
            <a:ext cx="4131600" cy="2183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5000"/>
              </a:lnSpc>
              <a:spcBef>
                <a:spcPts val="0"/>
              </a:spcBef>
              <a:spcAft>
                <a:spcPts val="1200"/>
              </a:spcAft>
              <a:buNone/>
            </a:pPr>
            <a:r>
              <a:rPr lang="en" sz="1350">
                <a:solidFill>
                  <a:schemeClr val="dk2"/>
                </a:solidFill>
                <a:latin typeface="Calibri"/>
                <a:ea typeface="Calibri"/>
                <a:cs typeface="Calibri"/>
                <a:sym typeface="Calibri"/>
              </a:rPr>
              <a:t>If </a:t>
            </a:r>
            <a:r>
              <a:rPr b="1" lang="en" sz="1350">
                <a:solidFill>
                  <a:schemeClr val="dk2"/>
                </a:solidFill>
                <a:latin typeface="Calibri"/>
                <a:ea typeface="Calibri"/>
                <a:cs typeface="Calibri"/>
                <a:sym typeface="Calibri"/>
              </a:rPr>
              <a:t>USD/CHF holds</a:t>
            </a:r>
            <a:r>
              <a:rPr lang="en" sz="1350">
                <a:solidFill>
                  <a:schemeClr val="dk2"/>
                </a:solidFill>
                <a:latin typeface="Calibri"/>
                <a:ea typeface="Calibri"/>
                <a:cs typeface="Calibri"/>
                <a:sym typeface="Calibri"/>
              </a:rPr>
              <a:t> and the </a:t>
            </a:r>
            <a:r>
              <a:rPr b="1" lang="en" sz="1350">
                <a:solidFill>
                  <a:schemeClr val="dk2"/>
                </a:solidFill>
                <a:latin typeface="Calibri"/>
                <a:ea typeface="Calibri"/>
                <a:cs typeface="Calibri"/>
                <a:sym typeface="Calibri"/>
              </a:rPr>
              <a:t>SNB is steady or dovish</a:t>
            </a:r>
            <a:r>
              <a:rPr lang="en" sz="1350">
                <a:solidFill>
                  <a:schemeClr val="dk2"/>
                </a:solidFill>
                <a:latin typeface="Calibri"/>
                <a:ea typeface="Calibri"/>
                <a:cs typeface="Calibri"/>
                <a:sym typeface="Calibri"/>
              </a:rPr>
              <a:t>, we </a:t>
            </a:r>
            <a:r>
              <a:rPr b="1" lang="en" sz="1350">
                <a:solidFill>
                  <a:schemeClr val="dk2"/>
                </a:solidFill>
                <a:latin typeface="Calibri"/>
                <a:ea typeface="Calibri"/>
                <a:cs typeface="Calibri"/>
                <a:sym typeface="Calibri"/>
              </a:rPr>
              <a:t>maintain the position until maturity.</a:t>
            </a:r>
            <a:r>
              <a:rPr lang="en" sz="1350">
                <a:solidFill>
                  <a:schemeClr val="dk2"/>
                </a:solidFill>
                <a:latin typeface="Calibri"/>
                <a:ea typeface="Calibri"/>
                <a:cs typeface="Calibri"/>
                <a:sym typeface="Calibri"/>
              </a:rPr>
              <a:t> If the CHF’s yields remain steady, our interest balance accrues until we reach maturity and repay the balance. If the CHF’s yields become negative, we only have to repay the principal at maturity, by swapping USD for CHF after receiving both the proceeds of the 1Y Treasury and the Swiss notes.</a:t>
            </a:r>
            <a:endParaRPr sz="1350"/>
          </a:p>
        </p:txBody>
      </p:sp>
      <p:sp>
        <p:nvSpPr>
          <p:cNvPr id="206" name="Google Shape;206;p23"/>
          <p:cNvSpPr/>
          <p:nvPr/>
        </p:nvSpPr>
        <p:spPr>
          <a:xfrm>
            <a:off x="4636350" y="2987975"/>
            <a:ext cx="4232400" cy="743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5000"/>
              </a:lnSpc>
              <a:spcBef>
                <a:spcPts val="0"/>
              </a:spcBef>
              <a:spcAft>
                <a:spcPts val="1200"/>
              </a:spcAft>
              <a:buNone/>
            </a:pPr>
            <a:r>
              <a:rPr lang="en" sz="1085">
                <a:solidFill>
                  <a:schemeClr val="dk2"/>
                </a:solidFill>
              </a:rPr>
              <a:t>If the </a:t>
            </a:r>
            <a:r>
              <a:rPr b="1" lang="en" sz="1085">
                <a:solidFill>
                  <a:schemeClr val="dk2"/>
                </a:solidFill>
              </a:rPr>
              <a:t>USD/CHF fluctuates</a:t>
            </a:r>
            <a:r>
              <a:rPr lang="en" sz="1085">
                <a:solidFill>
                  <a:schemeClr val="dk2"/>
                </a:solidFill>
              </a:rPr>
              <a:t>, maintain the position as long as Swiss rates are steady and there is no defined negative trend in the swap rate.</a:t>
            </a:r>
            <a:endParaRPr/>
          </a:p>
        </p:txBody>
      </p:sp>
      <p:sp>
        <p:nvSpPr>
          <p:cNvPr id="207" name="Google Shape;207;p23"/>
          <p:cNvSpPr/>
          <p:nvPr/>
        </p:nvSpPr>
        <p:spPr>
          <a:xfrm>
            <a:off x="4636350" y="4036125"/>
            <a:ext cx="4232400" cy="89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5000"/>
              </a:lnSpc>
              <a:spcBef>
                <a:spcPts val="0"/>
              </a:spcBef>
              <a:spcAft>
                <a:spcPts val="1200"/>
              </a:spcAft>
              <a:buClr>
                <a:schemeClr val="dk1"/>
              </a:buClr>
              <a:buSzPts val="1100"/>
              <a:buFont typeface="Arial"/>
              <a:buNone/>
            </a:pPr>
            <a:r>
              <a:rPr lang="en" sz="985">
                <a:solidFill>
                  <a:schemeClr val="dk2"/>
                </a:solidFill>
              </a:rPr>
              <a:t> If the</a:t>
            </a:r>
            <a:r>
              <a:rPr b="1" lang="en" sz="985">
                <a:solidFill>
                  <a:schemeClr val="dk2"/>
                </a:solidFill>
              </a:rPr>
              <a:t> Fed is more dovish than expected</a:t>
            </a:r>
            <a:r>
              <a:rPr lang="en" sz="985">
                <a:solidFill>
                  <a:schemeClr val="dk2"/>
                </a:solidFill>
              </a:rPr>
              <a:t> (rate cuts into 2026 have been priced in), immediately unwind the trade and sell the 1Y in the secondary market in order to make profit in the secondary market and offset potential losses from an exchange rate shock.</a:t>
            </a:r>
            <a:endParaRPr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p:nvPr/>
        </p:nvSpPr>
        <p:spPr>
          <a:xfrm>
            <a:off x="5595725" y="1475275"/>
            <a:ext cx="3400800" cy="3501600"/>
          </a:xfrm>
          <a:prstGeom prst="rect">
            <a:avLst/>
          </a:prstGeom>
          <a:noFill/>
          <a:ln cap="flat" cmpd="sng" w="2857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24"/>
          <p:cNvSpPr/>
          <p:nvPr/>
        </p:nvSpPr>
        <p:spPr>
          <a:xfrm>
            <a:off x="297225" y="1475275"/>
            <a:ext cx="5197800" cy="350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4"/>
          <p:cNvSpPr txBox="1"/>
          <p:nvPr>
            <p:ph idx="1" type="body"/>
          </p:nvPr>
        </p:nvSpPr>
        <p:spPr>
          <a:xfrm>
            <a:off x="358725" y="1642375"/>
            <a:ext cx="5074800" cy="33345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sz="1600">
                <a:solidFill>
                  <a:schemeClr val="dk1"/>
                </a:solidFill>
                <a:latin typeface="Calibri"/>
                <a:ea typeface="Calibri"/>
                <a:cs typeface="Calibri"/>
                <a:sym typeface="Calibri"/>
              </a:rPr>
              <a:t>The cross currency basis between the US Dollar and the Swiss Franc, or the difference between the direct treasury interest rate in the cash market and the implied interest rate in the swap market is negative. </a:t>
            </a:r>
            <a:endParaRPr sz="1600">
              <a:solidFill>
                <a:schemeClr val="dk1"/>
              </a:solidFill>
              <a:latin typeface="Calibri"/>
              <a:ea typeface="Calibri"/>
              <a:cs typeface="Calibri"/>
              <a:sym typeface="Calibri"/>
            </a:endParaRPr>
          </a:p>
          <a:p>
            <a:pPr indent="0" lvl="0" marL="0" rtl="0" algn="l">
              <a:spcBef>
                <a:spcPts val="1200"/>
              </a:spcBef>
              <a:spcAft>
                <a:spcPts val="0"/>
              </a:spcAft>
              <a:buNone/>
            </a:pPr>
            <a:r>
              <a:rPr lang="en" sz="1600">
                <a:solidFill>
                  <a:schemeClr val="dk1"/>
                </a:solidFill>
                <a:latin typeface="Calibri"/>
                <a:ea typeface="Calibri"/>
                <a:cs typeface="Calibri"/>
                <a:sym typeface="Calibri"/>
              </a:rPr>
              <a:t>This means that a Swiss investor would have to pay more to borrow USD in the swap market than in the cash market. This provides an opportunity of arbitrage for a US investor by borrowing cash and then swapping it in the foreign exchange market for CHF, with a favorable forward rate to swap CHF back to USD when the position reaches maturity. </a:t>
            </a:r>
            <a:endParaRPr sz="1600">
              <a:solidFill>
                <a:schemeClr val="dk1"/>
              </a:solidFill>
              <a:latin typeface="Calibri"/>
              <a:ea typeface="Calibri"/>
              <a:cs typeface="Calibri"/>
              <a:sym typeface="Calibri"/>
            </a:endParaRPr>
          </a:p>
          <a:p>
            <a:pPr indent="0" lvl="0" marL="0" rtl="0" algn="l">
              <a:spcBef>
                <a:spcPts val="1200"/>
              </a:spcBef>
              <a:spcAft>
                <a:spcPts val="0"/>
              </a:spcAft>
              <a:buNone/>
            </a:pPr>
            <a:r>
              <a:rPr lang="en" sz="1600">
                <a:solidFill>
                  <a:schemeClr val="dk1"/>
                </a:solidFill>
                <a:latin typeface="Calibri"/>
                <a:ea typeface="Calibri"/>
                <a:cs typeface="Calibri"/>
                <a:sym typeface="Calibri"/>
              </a:rPr>
              <a:t>The basis remains stable due to restrictions on offshore US dollar funding instituted via regulations like BASEL III and continued demand for dollars by investors in countries with lower interest rates available.</a:t>
            </a:r>
            <a:endParaRPr sz="1600">
              <a:solidFill>
                <a:schemeClr val="dk1"/>
              </a:solidFill>
              <a:latin typeface="Calibri"/>
              <a:ea typeface="Calibri"/>
              <a:cs typeface="Calibri"/>
              <a:sym typeface="Calibri"/>
            </a:endParaRPr>
          </a:p>
          <a:p>
            <a:pPr indent="0" lvl="0" marL="0" rtl="0" algn="l">
              <a:spcBef>
                <a:spcPts val="1200"/>
              </a:spcBef>
              <a:spcAft>
                <a:spcPts val="1200"/>
              </a:spcAft>
              <a:buNone/>
            </a:pPr>
            <a:r>
              <a:rPr lang="en" sz="1600">
                <a:solidFill>
                  <a:schemeClr val="dk1"/>
                </a:solidFill>
                <a:latin typeface="Calibri"/>
                <a:ea typeface="Calibri"/>
                <a:cs typeface="Calibri"/>
                <a:sym typeface="Calibri"/>
              </a:rPr>
              <a:t>This trade is advantageous because it has a near infinite Sharpe Ratio, which indicates an even better risk-return trade-off than our carry trade (which is already low risk). </a:t>
            </a:r>
            <a:endParaRPr sz="1600">
              <a:solidFill>
                <a:schemeClr val="dk1"/>
              </a:solidFill>
              <a:latin typeface="Calibri"/>
              <a:ea typeface="Calibri"/>
              <a:cs typeface="Calibri"/>
              <a:sym typeface="Calibri"/>
            </a:endParaRPr>
          </a:p>
        </p:txBody>
      </p:sp>
      <p:pic>
        <p:nvPicPr>
          <p:cNvPr id="215" name="Google Shape;215;p24"/>
          <p:cNvPicPr preferRelativeResize="0"/>
          <p:nvPr/>
        </p:nvPicPr>
        <p:blipFill rotWithShape="1">
          <a:blip r:embed="rId3">
            <a:alphaModFix/>
          </a:blip>
          <a:srcRect b="0" l="24648" r="0" t="0"/>
          <a:stretch/>
        </p:blipFill>
        <p:spPr>
          <a:xfrm>
            <a:off x="5940634" y="3756525"/>
            <a:ext cx="2713725" cy="541675"/>
          </a:xfrm>
          <a:prstGeom prst="rect">
            <a:avLst/>
          </a:prstGeom>
          <a:noFill/>
          <a:ln>
            <a:noFill/>
          </a:ln>
        </p:spPr>
      </p:pic>
      <p:pic>
        <p:nvPicPr>
          <p:cNvPr id="216" name="Google Shape;216;p24"/>
          <p:cNvPicPr preferRelativeResize="0"/>
          <p:nvPr/>
        </p:nvPicPr>
        <p:blipFill>
          <a:blip r:embed="rId4">
            <a:alphaModFix/>
          </a:blip>
          <a:stretch>
            <a:fillRect/>
          </a:stretch>
        </p:blipFill>
        <p:spPr>
          <a:xfrm>
            <a:off x="6096140" y="4387100"/>
            <a:ext cx="2460351" cy="383100"/>
          </a:xfrm>
          <a:prstGeom prst="rect">
            <a:avLst/>
          </a:prstGeom>
          <a:noFill/>
          <a:ln>
            <a:noFill/>
          </a:ln>
        </p:spPr>
      </p:pic>
      <p:pic>
        <p:nvPicPr>
          <p:cNvPr id="217" name="Google Shape;217;p24"/>
          <p:cNvPicPr preferRelativeResize="0"/>
          <p:nvPr/>
        </p:nvPicPr>
        <p:blipFill>
          <a:blip r:embed="rId5">
            <a:alphaModFix/>
          </a:blip>
          <a:stretch>
            <a:fillRect/>
          </a:stretch>
        </p:blipFill>
        <p:spPr>
          <a:xfrm>
            <a:off x="5689937" y="1600671"/>
            <a:ext cx="3215100" cy="2073174"/>
          </a:xfrm>
          <a:prstGeom prst="rect">
            <a:avLst/>
          </a:prstGeom>
          <a:noFill/>
          <a:ln>
            <a:noFill/>
          </a:ln>
        </p:spPr>
      </p:pic>
      <p:sp>
        <p:nvSpPr>
          <p:cNvPr id="218" name="Google Shape;218;p24"/>
          <p:cNvSpPr txBox="1"/>
          <p:nvPr>
            <p:ph type="title"/>
          </p:nvPr>
        </p:nvSpPr>
        <p:spPr>
          <a:xfrm>
            <a:off x="0" y="129153"/>
            <a:ext cx="8520600" cy="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4000">
                <a:latin typeface="Calibri"/>
                <a:ea typeface="Calibri"/>
                <a:cs typeface="Calibri"/>
                <a:sym typeface="Calibri"/>
              </a:rPr>
              <a:t>Further Variations of the Trade</a:t>
            </a:r>
            <a:endParaRPr i="1" sz="4000">
              <a:latin typeface="Calibri"/>
              <a:ea typeface="Calibri"/>
              <a:cs typeface="Calibri"/>
              <a:sym typeface="Calibri"/>
            </a:endParaRPr>
          </a:p>
        </p:txBody>
      </p:sp>
      <p:cxnSp>
        <p:nvCxnSpPr>
          <p:cNvPr id="219" name="Google Shape;219;p24"/>
          <p:cNvCxnSpPr/>
          <p:nvPr/>
        </p:nvCxnSpPr>
        <p:spPr>
          <a:xfrm>
            <a:off x="-21525" y="809350"/>
            <a:ext cx="9234300" cy="38700"/>
          </a:xfrm>
          <a:prstGeom prst="straightConnector1">
            <a:avLst/>
          </a:prstGeom>
          <a:noFill/>
          <a:ln cap="flat" cmpd="sng" w="9525">
            <a:solidFill>
              <a:schemeClr val="dk2"/>
            </a:solidFill>
            <a:prstDash val="solid"/>
            <a:round/>
            <a:headEnd len="med" w="med" type="none"/>
            <a:tailEnd len="med" w="med" type="none"/>
          </a:ln>
        </p:spPr>
      </p:cxnSp>
      <p:sp>
        <p:nvSpPr>
          <p:cNvPr id="220" name="Google Shape;220;p24"/>
          <p:cNvSpPr/>
          <p:nvPr/>
        </p:nvSpPr>
        <p:spPr>
          <a:xfrm>
            <a:off x="311700" y="982675"/>
            <a:ext cx="8684700" cy="3831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Calibri"/>
                <a:ea typeface="Calibri"/>
                <a:cs typeface="Calibri"/>
                <a:sym typeface="Calibri"/>
              </a:rPr>
              <a:t>Cross Currency Swap</a:t>
            </a:r>
            <a:endParaRPr b="1" sz="17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